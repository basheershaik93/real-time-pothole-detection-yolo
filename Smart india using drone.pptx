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40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26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64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57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3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91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0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23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9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2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29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63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d.it/attualita/tech/2019/09/02/podcast-wired-smart-city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4A94D7-999D-4796-98BB-44867EC59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291541"/>
            <a:ext cx="12192000" cy="71687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2A47A0-47E4-497E-B1BD-548885F21883}"/>
              </a:ext>
            </a:extLst>
          </p:cNvPr>
          <p:cNvSpPr/>
          <p:nvPr/>
        </p:nvSpPr>
        <p:spPr>
          <a:xfrm>
            <a:off x="278296" y="620403"/>
            <a:ext cx="11476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EXISTING SMART CITY DEVELOPMENT USING DRONE</a:t>
            </a:r>
            <a:endParaRPr lang="en-IN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902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4FF5-83CE-4B4F-8E1E-432B229C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91549"/>
            <a:ext cx="9875520" cy="69084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Infrastructure Monitoring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48F81-F1D6-491A-8F72-BD456AC708F6}"/>
              </a:ext>
            </a:extLst>
          </p:cNvPr>
          <p:cNvSpPr/>
          <p:nvPr/>
        </p:nvSpPr>
        <p:spPr>
          <a:xfrm>
            <a:off x="8335617" y="982390"/>
            <a:ext cx="2978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FF"/>
                </a:highlight>
              </a:rPr>
              <a:t>DJI </a:t>
            </a:r>
            <a:r>
              <a:rPr lang="en-IN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FF"/>
                </a:highlight>
              </a:rPr>
              <a:t>Matrice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FF"/>
                </a:highlight>
              </a:rPr>
              <a:t> 300 RTK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26654-30A4-4C60-9AB1-2DC0A523524A}"/>
              </a:ext>
            </a:extLst>
          </p:cNvPr>
          <p:cNvSpPr/>
          <p:nvPr/>
        </p:nvSpPr>
        <p:spPr>
          <a:xfrm>
            <a:off x="499247" y="849003"/>
            <a:ext cx="640513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Type</a:t>
            </a:r>
            <a:r>
              <a:rPr lang="en-IN" sz="2000" dirty="0"/>
              <a:t>: LiPo 6S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Capacity</a:t>
            </a:r>
            <a:r>
              <a:rPr lang="en-IN" sz="2000" dirty="0"/>
              <a:t>: 6,500 </a:t>
            </a:r>
            <a:r>
              <a:rPr lang="en-IN" sz="2000" dirty="0" err="1"/>
              <a:t>mAh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Max Flight Time</a:t>
            </a:r>
            <a:r>
              <a:rPr lang="en-IN" sz="2000" dirty="0"/>
              <a:t>: Up to 55 minutes (varies with payload)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Charging Time</a:t>
            </a:r>
            <a:r>
              <a:rPr lang="en-IN" sz="2000" dirty="0"/>
              <a:t>: Approximately 60 minutes with a standard charger</a:t>
            </a:r>
          </a:p>
          <a:p>
            <a:r>
              <a:rPr lang="en-IN" sz="2000" b="1" dirty="0"/>
              <a:t>2.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err="1"/>
              <a:t>Zenmuse</a:t>
            </a:r>
            <a:r>
              <a:rPr lang="en-IN" sz="2000" b="1" dirty="0"/>
              <a:t> H20 Series</a:t>
            </a:r>
            <a:r>
              <a:rPr lang="en-IN" sz="2000" dirty="0"/>
              <a:t>: Integrated payload 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H20</a:t>
            </a:r>
            <a:r>
              <a:rPr lang="en-IN" sz="2000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2000" b="1" dirty="0"/>
              <a:t>Camera</a:t>
            </a:r>
            <a:r>
              <a:rPr lang="en-IN" sz="2000" dirty="0"/>
              <a:t>: 12 MP wide-angle, 20 MP telephoto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2000" b="1" dirty="0"/>
              <a:t>Video</a:t>
            </a:r>
            <a:r>
              <a:rPr lang="en-IN" sz="2000" dirty="0"/>
              <a:t>: 4K at 30 fps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H20T</a:t>
            </a:r>
            <a:r>
              <a:rPr lang="en-IN" sz="2000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2000" b="1" dirty="0"/>
              <a:t>Thermal Camera</a:t>
            </a:r>
            <a:r>
              <a:rPr lang="en-IN" sz="2000" dirty="0"/>
              <a:t>: 640 x 512 px resolution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2000" b="1" dirty="0"/>
              <a:t>Laser Rangefinder</a:t>
            </a:r>
            <a:r>
              <a:rPr lang="en-IN" sz="2000" dirty="0"/>
              <a:t>: Up to 1200 m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2000" b="1" dirty="0"/>
              <a:t>Video</a:t>
            </a:r>
            <a:r>
              <a:rPr lang="en-IN" sz="2000" dirty="0"/>
              <a:t>: 4K and thermal video capabilities</a:t>
            </a:r>
          </a:p>
          <a:p>
            <a:r>
              <a:rPr lang="en-IN" sz="2000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Type</a:t>
            </a:r>
            <a:r>
              <a:rPr lang="en-IN" sz="2000" dirty="0"/>
              <a:t>: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Propeller Size</a:t>
            </a:r>
            <a:r>
              <a:rPr lang="en-IN" sz="2000" dirty="0"/>
              <a:t>: 17 inches (430 mm)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sz="2000" dirty="0"/>
          </a:p>
        </p:txBody>
      </p:sp>
      <p:pic>
        <p:nvPicPr>
          <p:cNvPr id="1026" name="Picture 2" descr="Matrice 300 RTK - Industrial grade ...">
            <a:extLst>
              <a:ext uri="{FF2B5EF4-FFF2-40B4-BE49-F238E27FC236}">
                <a16:creationId xmlns:a16="http://schemas.microsoft.com/office/drawing/2014/main" id="{C235849E-DCDC-407B-9D18-49E261658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826" y="1539845"/>
            <a:ext cx="4344927" cy="166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E01863-2D72-4E0A-A8D2-E48027F6AC24}"/>
              </a:ext>
            </a:extLst>
          </p:cNvPr>
          <p:cNvSpPr/>
          <p:nvPr/>
        </p:nvSpPr>
        <p:spPr>
          <a:xfrm>
            <a:off x="6904383" y="4443043"/>
            <a:ext cx="47258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000" dirty="0"/>
          </a:p>
          <a:p>
            <a:r>
              <a:rPr lang="en-IN" sz="2000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Max Payload</a:t>
            </a:r>
            <a:r>
              <a:rPr lang="en-IN" sz="2000" dirty="0"/>
              <a:t>: 2.7 kg (6.0 lbs)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Max Speed</a:t>
            </a:r>
            <a:r>
              <a:rPr lang="en-IN" sz="2000" dirty="0"/>
              <a:t>: 23 m/s (51.5 mph)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Wind Resistance</a:t>
            </a:r>
            <a:r>
              <a:rPr lang="en-IN" sz="2000" dirty="0"/>
              <a:t>: Up to 15 m/s (33.5 mph)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Obstacle Sensing</a:t>
            </a:r>
            <a:r>
              <a:rPr lang="en-IN" sz="2000" dirty="0"/>
              <a:t>: 6-directional sensors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93FB9-AF73-41B0-8D1A-BFA0E77F52A9}"/>
              </a:ext>
            </a:extLst>
          </p:cNvPr>
          <p:cNvSpPr/>
          <p:nvPr/>
        </p:nvSpPr>
        <p:spPr>
          <a:xfrm>
            <a:off x="6528094" y="3222979"/>
            <a:ext cx="56639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DJI </a:t>
            </a:r>
            <a:r>
              <a:rPr lang="en-US" b="1" dirty="0" err="1"/>
              <a:t>Matrice</a:t>
            </a:r>
            <a:r>
              <a:rPr lang="en-US" b="1" dirty="0"/>
              <a:t> 300 RTK</a:t>
            </a:r>
            <a:r>
              <a:rPr lang="en-US" dirty="0"/>
              <a:t> is manufactured by </a:t>
            </a:r>
            <a:r>
              <a:rPr lang="en-US" b="1" dirty="0"/>
              <a:t>DJI (</a:t>
            </a:r>
            <a:r>
              <a:rPr lang="en-US" b="1" dirty="0" err="1"/>
              <a:t>Dà-Jiāng</a:t>
            </a:r>
            <a:r>
              <a:rPr lang="en-US" b="1" dirty="0"/>
              <a:t> Innovations Science and Technology Co., Ltd.)</a:t>
            </a:r>
            <a:r>
              <a:rPr lang="en-US" dirty="0"/>
              <a:t>, a Chinese company headquartered in Shenzhen, Guangdong Province, China.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20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3B1260-7E7D-484D-AE99-61DF27B0D0A9}"/>
              </a:ext>
            </a:extLst>
          </p:cNvPr>
          <p:cNvSpPr/>
          <p:nvPr/>
        </p:nvSpPr>
        <p:spPr>
          <a:xfrm>
            <a:off x="8264473" y="636426"/>
            <a:ext cx="23029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>
                <a:highlight>
                  <a:srgbClr val="00FFFF"/>
                </a:highlight>
              </a:rPr>
              <a:t>senseFly</a:t>
            </a:r>
            <a:r>
              <a:rPr lang="en-IN" sz="2400" b="1" dirty="0">
                <a:highlight>
                  <a:srgbClr val="00FFFF"/>
                </a:highlight>
              </a:rPr>
              <a:t> </a:t>
            </a:r>
            <a:r>
              <a:rPr lang="en-IN" sz="2400" b="1" dirty="0" err="1">
                <a:highlight>
                  <a:srgbClr val="00FFFF"/>
                </a:highlight>
              </a:rPr>
              <a:t>eBee</a:t>
            </a:r>
            <a:r>
              <a:rPr lang="en-IN" sz="2400" b="1" dirty="0">
                <a:highlight>
                  <a:srgbClr val="00FFFF"/>
                </a:highlight>
              </a:rPr>
              <a:t> X</a:t>
            </a:r>
          </a:p>
        </p:txBody>
      </p:sp>
      <p:pic>
        <p:nvPicPr>
          <p:cNvPr id="2050" name="Picture 2" descr="eBee X mapping drone - Drones | AgEagle ...">
            <a:extLst>
              <a:ext uri="{FF2B5EF4-FFF2-40B4-BE49-F238E27FC236}">
                <a16:creationId xmlns:a16="http://schemas.microsoft.com/office/drawing/2014/main" id="{FAB0030A-7ED2-43DC-B585-E25B1B294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035" y="1273825"/>
            <a:ext cx="3175638" cy="1929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901BD5-E2BF-4621-8BA8-4E74D3872C28}"/>
              </a:ext>
            </a:extLst>
          </p:cNvPr>
          <p:cNvSpPr/>
          <p:nvPr/>
        </p:nvSpPr>
        <p:spPr>
          <a:xfrm>
            <a:off x="284922" y="695900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Type</a:t>
            </a:r>
            <a:r>
              <a:rPr lang="en-IN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Capacity</a:t>
            </a:r>
            <a:r>
              <a:rPr lang="en-IN" dirty="0"/>
              <a:t>: 14,000 </a:t>
            </a:r>
            <a:r>
              <a:rPr lang="en-IN" dirty="0" err="1"/>
              <a:t>mAh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Max Flight Time</a:t>
            </a:r>
            <a:r>
              <a:rPr lang="en-IN" dirty="0"/>
              <a:t>: Up to 90 minutes (depending on payload and conditions)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Charging Time</a:t>
            </a:r>
            <a:r>
              <a:rPr lang="en-IN" dirty="0"/>
              <a:t>: Approximately 60 minutes with a standard charger</a:t>
            </a:r>
          </a:p>
          <a:p>
            <a:r>
              <a:rPr lang="en-IN" b="1" dirty="0"/>
              <a:t>2.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Compatible Sensors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S.O.D.A. 3D</a:t>
            </a:r>
            <a:r>
              <a:rPr lang="en-IN" dirty="0"/>
              <a:t>: 20 MP RGB camera for high-resolution mapping.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S.O.D.A.</a:t>
            </a:r>
            <a:r>
              <a:rPr lang="en-IN" dirty="0"/>
              <a:t>: 16 MP RGB camera optimized for photogrammetry.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Thermal Camera</a:t>
            </a:r>
            <a:r>
              <a:rPr lang="en-IN" dirty="0"/>
              <a:t>: Various options available for thermal imaging.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Multispectral Camera</a:t>
            </a:r>
            <a:r>
              <a:rPr lang="en-IN" dirty="0"/>
              <a:t>: For agricultural monitoring (e.g., </a:t>
            </a:r>
            <a:r>
              <a:rPr lang="en-IN" dirty="0" err="1"/>
              <a:t>MicaSense</a:t>
            </a:r>
            <a:r>
              <a:rPr lang="en-IN" dirty="0"/>
              <a:t> </a:t>
            </a:r>
            <a:r>
              <a:rPr lang="en-IN" dirty="0" err="1"/>
              <a:t>RedEdge</a:t>
            </a:r>
            <a:r>
              <a:rPr lang="en-IN" dirty="0"/>
              <a:t>).</a:t>
            </a:r>
          </a:p>
          <a:p>
            <a:r>
              <a:rPr lang="en-IN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Type</a:t>
            </a:r>
            <a:r>
              <a:rPr lang="en-IN" dirty="0"/>
              <a:t>: Electric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Configuration</a:t>
            </a:r>
            <a:r>
              <a:rPr lang="en-IN" dirty="0"/>
              <a:t>: Fixed-wing design with a wingspan of 104 cm (40.9 inches)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7C1844-7F9C-4E10-8F4C-7C26A8840C67}"/>
              </a:ext>
            </a:extLst>
          </p:cNvPr>
          <p:cNvSpPr/>
          <p:nvPr/>
        </p:nvSpPr>
        <p:spPr>
          <a:xfrm>
            <a:off x="6380921" y="3957948"/>
            <a:ext cx="58110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Max Payload Capacity</a:t>
            </a:r>
            <a:r>
              <a:rPr lang="en-IN" dirty="0"/>
              <a:t>: Up to 1.5 kg (3.3 lbs)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Range</a:t>
            </a:r>
            <a:r>
              <a:rPr lang="en-IN" dirty="0"/>
              <a:t>: Can cover areas up to 200 hectares (494 acres) in a single flight, depending on altitude and sensor.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Flight Mode</a:t>
            </a:r>
            <a:r>
              <a:rPr lang="en-IN" dirty="0"/>
              <a:t>: Fully autonomous flights using pre-planned missions via </a:t>
            </a:r>
            <a:r>
              <a:rPr lang="en-IN" dirty="0" err="1"/>
              <a:t>eMotion</a:t>
            </a:r>
            <a:r>
              <a:rPr lang="en-IN" dirty="0"/>
              <a:t>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GPS Accuracy</a:t>
            </a:r>
            <a:r>
              <a:rPr lang="en-IN" dirty="0"/>
              <a:t>: Sub-meter accuracy with optional RTK/GNSS for enhanced precision.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36446D-B7CB-42FC-B4AE-BE6B3E10D0E5}"/>
              </a:ext>
            </a:extLst>
          </p:cNvPr>
          <p:cNvSpPr/>
          <p:nvPr/>
        </p:nvSpPr>
        <p:spPr>
          <a:xfrm>
            <a:off x="6516756" y="3203466"/>
            <a:ext cx="55394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/>
              <a:t>senseFly</a:t>
            </a:r>
            <a:r>
              <a:rPr lang="en-US" b="1" dirty="0"/>
              <a:t> </a:t>
            </a:r>
            <a:r>
              <a:rPr lang="en-US" b="1" dirty="0" err="1"/>
              <a:t>eBee</a:t>
            </a:r>
            <a:r>
              <a:rPr lang="en-US" b="1" dirty="0"/>
              <a:t> X</a:t>
            </a:r>
            <a:r>
              <a:rPr lang="en-US" dirty="0"/>
              <a:t> is manufactured by </a:t>
            </a:r>
            <a:r>
              <a:rPr lang="en-US" b="1" dirty="0" err="1"/>
              <a:t>senseFly</a:t>
            </a:r>
            <a:r>
              <a:rPr lang="en-US" dirty="0"/>
              <a:t>, a Swiss company that specializes in drone solutions for mapping and surveying.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238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0FA-3524-435B-A81C-9151B01A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51792"/>
            <a:ext cx="9875520" cy="702366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Traffic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75A1D9-7E67-460C-A168-F2FA7C444378}"/>
              </a:ext>
            </a:extLst>
          </p:cNvPr>
          <p:cNvSpPr/>
          <p:nvPr/>
        </p:nvSpPr>
        <p:spPr>
          <a:xfrm>
            <a:off x="9395114" y="502936"/>
            <a:ext cx="1876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highlight>
                  <a:srgbClr val="00FFFF"/>
                </a:highlight>
              </a:rPr>
              <a:t>Parrot Anafi USA</a:t>
            </a:r>
          </a:p>
        </p:txBody>
      </p:sp>
      <p:pic>
        <p:nvPicPr>
          <p:cNvPr id="3074" name="Picture 2" descr="Parrot on its Anafi USA microdrone and ...">
            <a:extLst>
              <a:ext uri="{FF2B5EF4-FFF2-40B4-BE49-F238E27FC236}">
                <a16:creationId xmlns:a16="http://schemas.microsoft.com/office/drawing/2014/main" id="{22F986FD-C753-4433-ACB2-94BF27FDA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652" y="954158"/>
            <a:ext cx="3448050" cy="156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B940D8-2468-4A01-8F25-7130E3A8555B}"/>
              </a:ext>
            </a:extLst>
          </p:cNvPr>
          <p:cNvSpPr/>
          <p:nvPr/>
        </p:nvSpPr>
        <p:spPr>
          <a:xfrm>
            <a:off x="543339" y="722753"/>
            <a:ext cx="555266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Capacity</a:t>
            </a:r>
            <a:r>
              <a:rPr lang="en-US" dirty="0"/>
              <a:t>: 3,500 </a:t>
            </a:r>
            <a:r>
              <a:rPr lang="en-US" dirty="0" err="1"/>
              <a:t>mAh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Flight Time</a:t>
            </a:r>
            <a:r>
              <a:rPr lang="en-US" dirty="0"/>
              <a:t>: Up to 32 minutes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Charging Time</a:t>
            </a:r>
            <a:r>
              <a:rPr lang="en-US" dirty="0"/>
              <a:t>: Approximately 90 minutes with the standard charger</a:t>
            </a:r>
          </a:p>
          <a:p>
            <a:r>
              <a:rPr lang="en-US" b="1" dirty="0"/>
              <a:t>2.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Main Camera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Sensor</a:t>
            </a:r>
            <a:r>
              <a:rPr lang="en-US" dirty="0"/>
              <a:t>: 32 MP RGB camera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Video Resolution</a:t>
            </a:r>
            <a:r>
              <a:rPr lang="en-US" dirty="0"/>
              <a:t>: 4K HDR at 30 fps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Zoom</a:t>
            </a:r>
            <a:r>
              <a:rPr lang="en-US" dirty="0"/>
              <a:t>: 32x digital zoom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Thermal Camera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Sensor</a:t>
            </a:r>
            <a:r>
              <a:rPr lang="en-US" dirty="0"/>
              <a:t>: FLIR thermal sensor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Resolution</a:t>
            </a:r>
            <a:r>
              <a:rPr lang="en-US" dirty="0"/>
              <a:t>: 320 x 256 pixels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Temperature Range</a:t>
            </a:r>
            <a:r>
              <a:rPr lang="en-US" dirty="0"/>
              <a:t>: -20°C to 400°C (-4°F to 752°F)</a:t>
            </a:r>
          </a:p>
          <a:p>
            <a:r>
              <a:rPr lang="en-US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Configuration</a:t>
            </a:r>
            <a:r>
              <a:rPr lang="en-US" dirty="0"/>
              <a:t>: Quadrotor design with a compact form factor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3511D-5A98-4BAE-9A77-9FAC5A97EC24}"/>
              </a:ext>
            </a:extLst>
          </p:cNvPr>
          <p:cNvSpPr/>
          <p:nvPr/>
        </p:nvSpPr>
        <p:spPr>
          <a:xfrm>
            <a:off x="6412810" y="3743886"/>
            <a:ext cx="52358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Payload Capacity</a:t>
            </a:r>
            <a:r>
              <a:rPr lang="en-US" dirty="0"/>
              <a:t>: Not specifically rated for additional payloads; designed for integrated cameras.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Wind Resistance</a:t>
            </a:r>
            <a:r>
              <a:rPr lang="en-US" dirty="0"/>
              <a:t>: Up to 15 m/s (33.5 mph)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Transmission Range</a:t>
            </a:r>
            <a:r>
              <a:rPr lang="en-US" dirty="0"/>
              <a:t>: Up to 4 km (2.5 miles) with the </a:t>
            </a:r>
            <a:r>
              <a:rPr lang="en-US" dirty="0" err="1"/>
              <a:t>Skycontroller</a:t>
            </a:r>
            <a:r>
              <a:rPr lang="en-US" dirty="0"/>
              <a:t>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Weight</a:t>
            </a:r>
            <a:r>
              <a:rPr lang="en-US" dirty="0"/>
              <a:t>: Approx. 500 g (1.1 </a:t>
            </a:r>
            <a:r>
              <a:rPr lang="en-US" dirty="0" err="1"/>
              <a:t>lbs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Operating Temperature</a:t>
            </a:r>
            <a:r>
              <a:rPr lang="en-US" dirty="0"/>
              <a:t>: -10°C to 40°C (14°F to 104°F)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54D8E-ECCC-446A-8DC9-FA18A5BBA4D2}"/>
              </a:ext>
            </a:extLst>
          </p:cNvPr>
          <p:cNvSpPr/>
          <p:nvPr/>
        </p:nvSpPr>
        <p:spPr>
          <a:xfrm>
            <a:off x="5645426" y="279094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Parrot Anafi USA</a:t>
            </a:r>
            <a:r>
              <a:rPr lang="en-US" dirty="0"/>
              <a:t> is manufactured by </a:t>
            </a:r>
            <a:r>
              <a:rPr lang="en-US" b="1" dirty="0"/>
              <a:t>Parrot SA</a:t>
            </a:r>
            <a:r>
              <a:rPr lang="en-US" dirty="0"/>
              <a:t>, a French company known for its innovative drone solutions.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22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2F3B8F-315C-414B-8311-8C63AF14175D}"/>
              </a:ext>
            </a:extLst>
          </p:cNvPr>
          <p:cNvSpPr/>
          <p:nvPr/>
        </p:nvSpPr>
        <p:spPr>
          <a:xfrm>
            <a:off x="7786311" y="562417"/>
            <a:ext cx="31683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DJI Mavic 2 Enterprise Dual</a:t>
            </a:r>
          </a:p>
        </p:txBody>
      </p:sp>
      <p:pic>
        <p:nvPicPr>
          <p:cNvPr id="4098" name="Picture 2" descr="Mavic 2 Enterprise Dual - Drone Scotland">
            <a:extLst>
              <a:ext uri="{FF2B5EF4-FFF2-40B4-BE49-F238E27FC236}">
                <a16:creationId xmlns:a16="http://schemas.microsoft.com/office/drawing/2014/main" id="{00F120A5-81F3-48A0-8FCF-6EA830255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014" y="1159986"/>
            <a:ext cx="4113972" cy="19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D61157-071F-4858-AFE4-CC11E6087F49}"/>
              </a:ext>
            </a:extLst>
          </p:cNvPr>
          <p:cNvSpPr/>
          <p:nvPr/>
        </p:nvSpPr>
        <p:spPr>
          <a:xfrm>
            <a:off x="325506" y="311935"/>
            <a:ext cx="54449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Capacity</a:t>
            </a:r>
            <a:r>
              <a:rPr lang="en-US" dirty="0"/>
              <a:t>: 3,800 </a:t>
            </a:r>
            <a:r>
              <a:rPr lang="en-US" dirty="0" err="1"/>
              <a:t>mAh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Flight Time</a:t>
            </a:r>
            <a:r>
              <a:rPr lang="en-US" dirty="0"/>
              <a:t>: Up to 31 minutes (depending on conditions and payload)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Charging Time</a:t>
            </a:r>
            <a:r>
              <a:rPr lang="en-US" dirty="0"/>
              <a:t>: Approximately 90 minutes with the standard charger</a:t>
            </a:r>
          </a:p>
          <a:p>
            <a:r>
              <a:rPr lang="en-US" b="1" dirty="0"/>
              <a:t>2.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Main Camera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Sensor</a:t>
            </a:r>
            <a:r>
              <a:rPr lang="en-US" dirty="0"/>
              <a:t>: 12 MP wide-angle camera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Video Resolution</a:t>
            </a:r>
            <a:r>
              <a:rPr lang="en-US" dirty="0"/>
              <a:t>: 4K at 30 fps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Thermal Camera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Sensor</a:t>
            </a:r>
            <a:r>
              <a:rPr lang="en-US" dirty="0"/>
              <a:t>: FLIR radiometric thermal sensor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Resolution</a:t>
            </a:r>
            <a:r>
              <a:rPr lang="en-US" dirty="0"/>
              <a:t>: 160 x 120 pixels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Temperature Range</a:t>
            </a:r>
            <a:r>
              <a:rPr lang="en-US" dirty="0"/>
              <a:t>: -20°C to 400°C (-4°F to 752°F)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Frame Rate</a:t>
            </a:r>
            <a:r>
              <a:rPr lang="en-US" dirty="0"/>
              <a:t>: 30 Hz</a:t>
            </a:r>
          </a:p>
          <a:p>
            <a:r>
              <a:rPr lang="en-US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Configuration</a:t>
            </a:r>
            <a:r>
              <a:rPr lang="en-US" dirty="0"/>
              <a:t>: Quadrotor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A12A1E-45B8-40A2-BF6F-90C5EBF71ABF}"/>
              </a:ext>
            </a:extLst>
          </p:cNvPr>
          <p:cNvSpPr/>
          <p:nvPr/>
        </p:nvSpPr>
        <p:spPr>
          <a:xfrm>
            <a:off x="5558459" y="436345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Payload Capacity</a:t>
            </a:r>
            <a:r>
              <a:rPr lang="en-US" dirty="0"/>
              <a:t>: Designed for integrated sensors; additional accessories available (e.g., spotlight, speaker).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Wind Resistance</a:t>
            </a:r>
            <a:r>
              <a:rPr lang="en-US" dirty="0"/>
              <a:t>: Up to 29-38 km/h (18-24 mph)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Transmission Range</a:t>
            </a:r>
            <a:r>
              <a:rPr lang="en-US" dirty="0"/>
              <a:t>: Up to 8 km (5 miles) with </a:t>
            </a:r>
            <a:r>
              <a:rPr lang="en-US" dirty="0" err="1"/>
              <a:t>OcuSync</a:t>
            </a:r>
            <a:r>
              <a:rPr lang="en-US" dirty="0"/>
              <a:t> 2.0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Weight</a:t>
            </a:r>
            <a:r>
              <a:rPr lang="en-US" dirty="0"/>
              <a:t>: Approx. 905 g (2 </a:t>
            </a:r>
            <a:r>
              <a:rPr lang="en-US" dirty="0" err="1"/>
              <a:t>lbs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Operating Temperature</a:t>
            </a:r>
            <a:r>
              <a:rPr lang="en-US" dirty="0"/>
              <a:t>: -10°C to 40°C (14°F to 104°F)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213EB3-A024-40A2-AA68-C4A24C6CD03F}"/>
              </a:ext>
            </a:extLst>
          </p:cNvPr>
          <p:cNvSpPr/>
          <p:nvPr/>
        </p:nvSpPr>
        <p:spPr>
          <a:xfrm>
            <a:off x="5558459" y="298786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DJI Mavic 2 Enterprise Dual</a:t>
            </a:r>
            <a:r>
              <a:rPr lang="en-US" dirty="0"/>
              <a:t> is manufactured by </a:t>
            </a:r>
            <a:r>
              <a:rPr lang="en-US" b="1" dirty="0"/>
              <a:t>DJI (</a:t>
            </a:r>
            <a:r>
              <a:rPr lang="en-US" b="1" dirty="0" err="1"/>
              <a:t>Dà-Jiāng</a:t>
            </a:r>
            <a:r>
              <a:rPr lang="en-US" b="1" dirty="0"/>
              <a:t> Innovations Science and Technology Co., Ltd.)</a:t>
            </a:r>
            <a:r>
              <a:rPr lang="en-US" dirty="0"/>
              <a:t>, a Chinese company headquartered in Shenzhen.</a:t>
            </a:r>
          </a:p>
        </p:txBody>
      </p:sp>
    </p:spTree>
    <p:extLst>
      <p:ext uri="{BB962C8B-B14F-4D97-AF65-F5344CB8AC3E}">
        <p14:creationId xmlns:p14="http://schemas.microsoft.com/office/powerpoint/2010/main" val="2578923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9D4E-57F8-4DA5-AFA8-F5C084E8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38540"/>
            <a:ext cx="9875520" cy="940904"/>
          </a:xfrm>
        </p:spPr>
        <p:txBody>
          <a:bodyPr/>
          <a:lstStyle/>
          <a:p>
            <a:pPr algn="ctr"/>
            <a:r>
              <a:rPr lang="en-IN" b="1" dirty="0"/>
              <a:t>Environmental Monitoring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CD71F0-0D8D-4F64-931C-979A1EB5EB61}"/>
              </a:ext>
            </a:extLst>
          </p:cNvPr>
          <p:cNvSpPr/>
          <p:nvPr/>
        </p:nvSpPr>
        <p:spPr>
          <a:xfrm>
            <a:off x="9653901" y="708992"/>
            <a:ext cx="23187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DJI Phantom 4 RTK</a:t>
            </a:r>
          </a:p>
        </p:txBody>
      </p:sp>
      <p:pic>
        <p:nvPicPr>
          <p:cNvPr id="5122" name="Picture 2" descr="20 MP Dji Phantom 4 Rtk Camera Drone ...">
            <a:extLst>
              <a:ext uri="{FF2B5EF4-FFF2-40B4-BE49-F238E27FC236}">
                <a16:creationId xmlns:a16="http://schemas.microsoft.com/office/drawing/2014/main" id="{85A74F99-105A-44A2-A4E5-B59BE65B0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695" y="133969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B98201-04DB-42C2-9C60-D3170002B96D}"/>
              </a:ext>
            </a:extLst>
          </p:cNvPr>
          <p:cNvSpPr/>
          <p:nvPr/>
        </p:nvSpPr>
        <p:spPr>
          <a:xfrm>
            <a:off x="404501" y="1179444"/>
            <a:ext cx="46313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Type</a:t>
            </a:r>
            <a:r>
              <a:rPr lang="en-IN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Capacity</a:t>
            </a:r>
            <a:r>
              <a:rPr lang="en-IN" dirty="0"/>
              <a:t>: 5,350 </a:t>
            </a:r>
            <a:r>
              <a:rPr lang="en-IN" dirty="0" err="1"/>
              <a:t>mAh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Max Flight Time</a:t>
            </a:r>
            <a:r>
              <a:rPr lang="en-IN" dirty="0"/>
              <a:t>: Up to 30 minutes (varies based on conditions and payload)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Charging Time</a:t>
            </a:r>
            <a:r>
              <a:rPr lang="en-IN" dirty="0"/>
              <a:t>: Approximately 60-70 minutes with the standard charger</a:t>
            </a:r>
          </a:p>
          <a:p>
            <a:r>
              <a:rPr lang="en-IN" b="1" dirty="0"/>
              <a:t>2.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Sensor</a:t>
            </a:r>
            <a:r>
              <a:rPr lang="en-IN" dirty="0"/>
              <a:t>: 1-inch 20 MP CMOS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Video Resolution</a:t>
            </a:r>
            <a:r>
              <a:rPr lang="en-IN" dirty="0"/>
              <a:t>: 4K at 60 fps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Lens</a:t>
            </a:r>
            <a:r>
              <a:rPr lang="en-IN" dirty="0"/>
              <a:t>: 24 mm equivalent focal length, f/2.8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Image Formats</a:t>
            </a:r>
            <a:r>
              <a:rPr lang="en-IN" dirty="0"/>
              <a:t>: JPEG, DNG (RAW)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Max Image Size</a:t>
            </a:r>
            <a:r>
              <a:rPr lang="en-IN" dirty="0"/>
              <a:t>: 5472 x 3648 pixels</a:t>
            </a:r>
          </a:p>
          <a:p>
            <a:r>
              <a:rPr lang="en-IN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Type</a:t>
            </a:r>
            <a:r>
              <a:rPr lang="en-IN" dirty="0"/>
              <a:t>: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Configuration</a:t>
            </a:r>
            <a:r>
              <a:rPr lang="en-IN" dirty="0"/>
              <a:t>: Quadrotor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2994E-151E-434F-AD61-61E52F742BBB}"/>
              </a:ext>
            </a:extLst>
          </p:cNvPr>
          <p:cNvSpPr/>
          <p:nvPr/>
        </p:nvSpPr>
        <p:spPr>
          <a:xfrm>
            <a:off x="5262877" y="423284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Max Payload Capacity</a:t>
            </a:r>
            <a:r>
              <a:rPr lang="en-IN" dirty="0"/>
              <a:t>: Designed primarily for the integrated camera; supports RTK module for enhanced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Wind Resistance</a:t>
            </a:r>
            <a:r>
              <a:rPr lang="en-IN" dirty="0"/>
              <a:t>: Up to 10 m/s (22 mph)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Transmission Range</a:t>
            </a:r>
            <a:r>
              <a:rPr lang="en-IN" dirty="0"/>
              <a:t>: Up to 7 km (4.3 miles) with Lightbridge HD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Weight</a:t>
            </a:r>
            <a:r>
              <a:rPr lang="en-IN" dirty="0"/>
              <a:t>: Approx. 1,380 g (3.04 lbs)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Operating Temperature</a:t>
            </a:r>
            <a:r>
              <a:rPr lang="en-IN" dirty="0"/>
              <a:t>: 0°C to 40°C (32°F to 104°F)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95721B-52B7-43F3-AE30-10B264090254}"/>
              </a:ext>
            </a:extLst>
          </p:cNvPr>
          <p:cNvSpPr/>
          <p:nvPr/>
        </p:nvSpPr>
        <p:spPr>
          <a:xfrm>
            <a:off x="5691499" y="28288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DJI Phantom 4 RTK</a:t>
            </a:r>
            <a:r>
              <a:rPr lang="en-US" dirty="0"/>
              <a:t> is manufactured by </a:t>
            </a:r>
            <a:r>
              <a:rPr lang="en-US" b="1" dirty="0"/>
              <a:t>DJI (</a:t>
            </a:r>
            <a:r>
              <a:rPr lang="en-US" b="1" dirty="0" err="1"/>
              <a:t>Dà-Jiāng</a:t>
            </a:r>
            <a:r>
              <a:rPr lang="en-US" b="1" dirty="0"/>
              <a:t> Innovations Science and Technology Co., Ltd.)</a:t>
            </a:r>
            <a:r>
              <a:rPr lang="en-US" dirty="0"/>
              <a:t>, a prominent Chinese drone manufacturer based in Shenzhen.</a:t>
            </a:r>
          </a:p>
        </p:txBody>
      </p:sp>
    </p:spTree>
    <p:extLst>
      <p:ext uri="{BB962C8B-B14F-4D97-AF65-F5344CB8AC3E}">
        <p14:creationId xmlns:p14="http://schemas.microsoft.com/office/powerpoint/2010/main" val="345351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A58E-C32E-42D2-93ED-BFE3C4D85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2035"/>
            <a:ext cx="9875520" cy="980661"/>
          </a:xfrm>
        </p:spPr>
        <p:txBody>
          <a:bodyPr/>
          <a:lstStyle/>
          <a:p>
            <a:pPr algn="ctr"/>
            <a:r>
              <a:rPr lang="en-US" b="1" dirty="0"/>
              <a:t>Public Safety and Emergency Response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756D35-5E63-4DE3-8C7E-7D5816627C10}"/>
              </a:ext>
            </a:extLst>
          </p:cNvPr>
          <p:cNvSpPr/>
          <p:nvPr/>
        </p:nvSpPr>
        <p:spPr>
          <a:xfrm>
            <a:off x="9411375" y="920384"/>
            <a:ext cx="2359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highlight>
                  <a:srgbClr val="00FFFF"/>
                </a:highlight>
              </a:rPr>
              <a:t>DJI Mavic 3 Enterprise</a:t>
            </a:r>
          </a:p>
        </p:txBody>
      </p:sp>
      <p:pic>
        <p:nvPicPr>
          <p:cNvPr id="6146" name="Picture 2" descr="DJI Mavic 3 Enterprise Series ...">
            <a:extLst>
              <a:ext uri="{FF2B5EF4-FFF2-40B4-BE49-F238E27FC236}">
                <a16:creationId xmlns:a16="http://schemas.microsoft.com/office/drawing/2014/main" id="{10E60E97-DE7E-41F1-9FA0-B07F25275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975" y="1339619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9ABFFE-3089-4927-8EDA-83132AC70F6D}"/>
              </a:ext>
            </a:extLst>
          </p:cNvPr>
          <p:cNvSpPr/>
          <p:nvPr/>
        </p:nvSpPr>
        <p:spPr>
          <a:xfrm>
            <a:off x="390525" y="883076"/>
            <a:ext cx="541392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Type</a:t>
            </a:r>
            <a:r>
              <a:rPr lang="en-IN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Capacity</a:t>
            </a:r>
            <a:r>
              <a:rPr lang="en-IN" dirty="0"/>
              <a:t>: 5,000 </a:t>
            </a:r>
            <a:r>
              <a:rPr lang="en-IN" dirty="0" err="1"/>
              <a:t>mAh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Max Flight Time</a:t>
            </a:r>
            <a:r>
              <a:rPr lang="en-IN" dirty="0"/>
              <a:t>: Up to 45 minutes (varies based on conditions and payload)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Charging Time</a:t>
            </a:r>
            <a:r>
              <a:rPr lang="en-IN" dirty="0"/>
              <a:t>: Approximately 90 minutes with the standard charger</a:t>
            </a:r>
          </a:p>
          <a:p>
            <a:r>
              <a:rPr lang="en-IN" b="1" dirty="0"/>
              <a:t>2.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Main Camera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Sensor</a:t>
            </a:r>
            <a:r>
              <a:rPr lang="en-IN" dirty="0"/>
              <a:t>: 4/3 CMOS sensor (Hasselblad)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Photo Resolution</a:t>
            </a:r>
            <a:r>
              <a:rPr lang="en-IN" dirty="0"/>
              <a:t>: 20 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Video Resolution</a:t>
            </a:r>
            <a:r>
              <a:rPr lang="en-IN" dirty="0"/>
              <a:t>: 5.1K at 50 fps, 4K at 120 fps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Telephoto Camera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Sensor</a:t>
            </a:r>
            <a:r>
              <a:rPr lang="en-IN" dirty="0"/>
              <a:t>: 1/2-inch CMOS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Zoom</a:t>
            </a:r>
            <a:r>
              <a:rPr lang="en-IN" dirty="0"/>
              <a:t>: 28x hybrid zoom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Video Resolution</a:t>
            </a:r>
            <a:r>
              <a:rPr lang="en-IN" dirty="0"/>
              <a:t>: 4K at 30 fps</a:t>
            </a:r>
          </a:p>
          <a:p>
            <a:r>
              <a:rPr lang="en-IN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Type</a:t>
            </a:r>
            <a:r>
              <a:rPr lang="en-IN" dirty="0"/>
              <a:t>: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Configuration</a:t>
            </a:r>
            <a:r>
              <a:rPr lang="en-IN" dirty="0"/>
              <a:t>: Quadrotor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A474E7-8FB1-4F6E-B275-7A43CBC63E25}"/>
              </a:ext>
            </a:extLst>
          </p:cNvPr>
          <p:cNvSpPr/>
          <p:nvPr/>
        </p:nvSpPr>
        <p:spPr>
          <a:xfrm>
            <a:off x="5804452" y="4423899"/>
            <a:ext cx="6096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Max Payload Capacity</a:t>
            </a:r>
            <a:r>
              <a:rPr lang="en-IN" sz="1600" dirty="0"/>
              <a:t>: Designed primarily for integrated cameras; compatible with various accessories (e.g., speaker, spotlight).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Wind Resistance</a:t>
            </a:r>
            <a:r>
              <a:rPr lang="en-IN" sz="1600" dirty="0"/>
              <a:t>: Up to 12 m/s (27 mph)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Transmission Range</a:t>
            </a:r>
            <a:r>
              <a:rPr lang="en-IN" sz="1600" dirty="0"/>
              <a:t>: Up to 15 km (9.3 miles) with </a:t>
            </a:r>
            <a:r>
              <a:rPr lang="en-IN" sz="1600" dirty="0" err="1"/>
              <a:t>OcuSync</a:t>
            </a:r>
            <a:r>
              <a:rPr lang="en-IN" sz="1600" dirty="0"/>
              <a:t> 3.0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Weight</a:t>
            </a:r>
            <a:r>
              <a:rPr lang="en-IN" sz="1600" dirty="0"/>
              <a:t>: Approx. 895 g (1.97 lbs)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Operating Temperature</a:t>
            </a:r>
            <a:r>
              <a:rPr lang="en-IN" sz="1600" dirty="0"/>
              <a:t>: -10°C to 40°C (14°F to 104°F)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4E90B0-626C-43D5-83E8-E967E34A6960}"/>
              </a:ext>
            </a:extLst>
          </p:cNvPr>
          <p:cNvSpPr/>
          <p:nvPr/>
        </p:nvSpPr>
        <p:spPr>
          <a:xfrm>
            <a:off x="5895975" y="271785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DJI Mavic 3 Enterprise</a:t>
            </a:r>
            <a:r>
              <a:rPr lang="en-US" dirty="0"/>
              <a:t> is manufactured by </a:t>
            </a:r>
            <a:r>
              <a:rPr lang="en-US" b="1" dirty="0"/>
              <a:t>DJI (</a:t>
            </a:r>
            <a:r>
              <a:rPr lang="en-US" b="1" dirty="0" err="1"/>
              <a:t>Dà-Jiāng</a:t>
            </a:r>
            <a:r>
              <a:rPr lang="en-US" b="1" dirty="0"/>
              <a:t> Innovations Science and Technology Co., Ltd.)</a:t>
            </a:r>
            <a:r>
              <a:rPr lang="en-US" dirty="0"/>
              <a:t>, a leading drone manufacturer based in Shenzhen, China.</a:t>
            </a:r>
          </a:p>
        </p:txBody>
      </p:sp>
    </p:spTree>
    <p:extLst>
      <p:ext uri="{BB962C8B-B14F-4D97-AF65-F5344CB8AC3E}">
        <p14:creationId xmlns:p14="http://schemas.microsoft.com/office/powerpoint/2010/main" val="1684131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2E829D-1BE6-43A7-B989-87EF37EB52F9}"/>
              </a:ext>
            </a:extLst>
          </p:cNvPr>
          <p:cNvSpPr/>
          <p:nvPr/>
        </p:nvSpPr>
        <p:spPr>
          <a:xfrm>
            <a:off x="8850590" y="381864"/>
            <a:ext cx="28397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err="1">
                <a:highlight>
                  <a:srgbClr val="00FFFF"/>
                </a:highlight>
              </a:rPr>
              <a:t>Autel</a:t>
            </a:r>
            <a:r>
              <a:rPr lang="en-IN" sz="2000" b="1" dirty="0">
                <a:highlight>
                  <a:srgbClr val="00FFFF"/>
                </a:highlight>
              </a:rPr>
              <a:t> Robotics EVO Lite</a:t>
            </a:r>
          </a:p>
        </p:txBody>
      </p:sp>
      <p:pic>
        <p:nvPicPr>
          <p:cNvPr id="7170" name="Picture 2" descr="Autel EVO Lite+ Drone Premium Bundle ...">
            <a:extLst>
              <a:ext uri="{FF2B5EF4-FFF2-40B4-BE49-F238E27FC236}">
                <a16:creationId xmlns:a16="http://schemas.microsoft.com/office/drawing/2014/main" id="{2EDC9732-D322-4F91-A976-24F1A6F74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461" y="78197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B33AC2-7D65-4175-9188-DF05D9EF7939}"/>
              </a:ext>
            </a:extLst>
          </p:cNvPr>
          <p:cNvSpPr/>
          <p:nvPr/>
        </p:nvSpPr>
        <p:spPr>
          <a:xfrm>
            <a:off x="319914" y="781974"/>
            <a:ext cx="544099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Capacity</a:t>
            </a:r>
            <a:r>
              <a:rPr lang="en-US" dirty="0"/>
              <a:t>: 7,100 </a:t>
            </a:r>
            <a:r>
              <a:rPr lang="en-US" dirty="0" err="1"/>
              <a:t>mAh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Flight Time</a:t>
            </a:r>
            <a:r>
              <a:rPr lang="en-US" dirty="0"/>
              <a:t>: Up to 40 minutes (varies based on conditions and payload)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Charging Time</a:t>
            </a:r>
            <a:r>
              <a:rPr lang="en-US" dirty="0"/>
              <a:t>: Approximately 100 minutes with the standard charger</a:t>
            </a:r>
          </a:p>
          <a:p>
            <a:r>
              <a:rPr lang="en-US" b="1" dirty="0"/>
              <a:t>2.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Sensor</a:t>
            </a:r>
            <a:r>
              <a:rPr lang="en-US" dirty="0"/>
              <a:t>: 1-inch CMOS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Photo Resolution</a:t>
            </a:r>
            <a:r>
              <a:rPr lang="en-US" dirty="0"/>
              <a:t>: Up to 50 MP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Video Resolution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6K at 30 fps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4K at up to 60 fps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Lens</a:t>
            </a:r>
            <a:r>
              <a:rPr lang="en-US" dirty="0"/>
              <a:t>: 22 mm (equivalent) with f/2.8 to f/11 aperture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ISO Range</a:t>
            </a:r>
            <a:r>
              <a:rPr lang="en-US" dirty="0"/>
              <a:t>: 100 to 12,800 (photo), 100 to 6,400 (video)</a:t>
            </a:r>
          </a:p>
          <a:p>
            <a:r>
              <a:rPr lang="en-US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Configuration</a:t>
            </a:r>
            <a:r>
              <a:rPr lang="en-US" dirty="0"/>
              <a:t>: Quadrotor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14E532-5187-4605-90AE-8587D1A536EA}"/>
              </a:ext>
            </a:extLst>
          </p:cNvPr>
          <p:cNvSpPr/>
          <p:nvPr/>
        </p:nvSpPr>
        <p:spPr>
          <a:xfrm>
            <a:off x="6431090" y="3955775"/>
            <a:ext cx="52592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Payload Capacity</a:t>
            </a:r>
            <a:r>
              <a:rPr lang="en-US" dirty="0"/>
              <a:t>: Designed for integrated camera; no specified external payload capacity.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Wind Resistance</a:t>
            </a:r>
            <a:r>
              <a:rPr lang="en-US" dirty="0"/>
              <a:t>: Up to 15 m/s (33.5 mph)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Transmission Range</a:t>
            </a:r>
            <a:r>
              <a:rPr lang="en-US" dirty="0"/>
              <a:t>: Up to 10 km (6.2 miles) with </a:t>
            </a:r>
            <a:r>
              <a:rPr lang="en-US" dirty="0" err="1"/>
              <a:t>Autel’s</a:t>
            </a:r>
            <a:r>
              <a:rPr lang="en-US" dirty="0"/>
              <a:t> secure transmission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Weight</a:t>
            </a:r>
            <a:r>
              <a:rPr lang="en-US" dirty="0"/>
              <a:t>: Approx. 795 g (1.75 </a:t>
            </a:r>
            <a:r>
              <a:rPr lang="en-US" dirty="0" err="1"/>
              <a:t>lbs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Operating Temperature</a:t>
            </a:r>
            <a:r>
              <a:rPr lang="en-US" dirty="0"/>
              <a:t>: -10°C to 40°C (14°F to 104°F)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CEE3D1-0F5C-4B36-911B-617B18CBA511}"/>
              </a:ext>
            </a:extLst>
          </p:cNvPr>
          <p:cNvSpPr/>
          <p:nvPr/>
        </p:nvSpPr>
        <p:spPr>
          <a:xfrm>
            <a:off x="5594342" y="247102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 err="1"/>
              <a:t>Autel</a:t>
            </a:r>
            <a:r>
              <a:rPr lang="en-US" b="1" dirty="0"/>
              <a:t> Robotics EVO Lite</a:t>
            </a:r>
            <a:r>
              <a:rPr lang="en-US" dirty="0"/>
              <a:t> is manufactured by </a:t>
            </a:r>
            <a:r>
              <a:rPr lang="en-US" b="1" dirty="0" err="1"/>
              <a:t>Autel</a:t>
            </a:r>
            <a:r>
              <a:rPr lang="en-US" b="1" dirty="0"/>
              <a:t> Robotics</a:t>
            </a:r>
            <a:r>
              <a:rPr lang="en-US" dirty="0"/>
              <a:t>, an American drone manufacturer based in Bothell, Washington.</a:t>
            </a:r>
          </a:p>
        </p:txBody>
      </p:sp>
    </p:spTree>
    <p:extLst>
      <p:ext uri="{BB962C8B-B14F-4D97-AF65-F5344CB8AC3E}">
        <p14:creationId xmlns:p14="http://schemas.microsoft.com/office/powerpoint/2010/main" val="347752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BA5A-F3AF-4488-BBFD-9A20A545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04800"/>
            <a:ext cx="9875520" cy="755374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Urban Planning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751EEB-E16E-46B8-B129-406873314FE3}"/>
              </a:ext>
            </a:extLst>
          </p:cNvPr>
          <p:cNvSpPr/>
          <p:nvPr/>
        </p:nvSpPr>
        <p:spPr>
          <a:xfrm>
            <a:off x="9500178" y="443209"/>
            <a:ext cx="15488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err="1">
                <a:highlight>
                  <a:srgbClr val="00FFFF"/>
                </a:highlight>
              </a:rPr>
              <a:t>WingtraOne</a:t>
            </a:r>
            <a:endParaRPr lang="en-IN" sz="2000" b="1" dirty="0">
              <a:highlight>
                <a:srgbClr val="00FFFF"/>
              </a:highlight>
            </a:endParaRPr>
          </a:p>
        </p:txBody>
      </p:sp>
      <p:pic>
        <p:nvPicPr>
          <p:cNvPr id="8194" name="Picture 2" descr="WingtraOne GEN II - Mapping drone for ...">
            <a:extLst>
              <a:ext uri="{FF2B5EF4-FFF2-40B4-BE49-F238E27FC236}">
                <a16:creationId xmlns:a16="http://schemas.microsoft.com/office/drawing/2014/main" id="{14EABCF3-EA3C-4B32-8DA2-6BF2CB32C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680" y="899908"/>
            <a:ext cx="265747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D98215-8790-479A-BAD0-C24C95915842}"/>
              </a:ext>
            </a:extLst>
          </p:cNvPr>
          <p:cNvSpPr/>
          <p:nvPr/>
        </p:nvSpPr>
        <p:spPr>
          <a:xfrm>
            <a:off x="463826" y="803562"/>
            <a:ext cx="576469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Capacity</a:t>
            </a:r>
            <a:r>
              <a:rPr lang="en-US" dirty="0"/>
              <a:t>: 5,200 </a:t>
            </a:r>
            <a:r>
              <a:rPr lang="en-US" dirty="0" err="1"/>
              <a:t>mAh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Flight Time</a:t>
            </a:r>
            <a:r>
              <a:rPr lang="en-US" dirty="0"/>
              <a:t>: Up to 59 minutes (varies based on payload and conditions)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Charging Time</a:t>
            </a:r>
            <a:r>
              <a:rPr lang="en-US" dirty="0"/>
              <a:t>: Approximately 60 minutes with the standard charger</a:t>
            </a:r>
          </a:p>
          <a:p>
            <a:r>
              <a:rPr lang="en-US" b="1" dirty="0"/>
              <a:t>2.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Compatible Sensors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Sony RX1R II</a:t>
            </a:r>
            <a:r>
              <a:rPr lang="en-US" dirty="0"/>
              <a:t>: 42.4 MP full-frame RGB camera for high-resolution mapping.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Phase One </a:t>
            </a:r>
            <a:r>
              <a:rPr lang="en-US" b="1" dirty="0" err="1"/>
              <a:t>iXM</a:t>
            </a:r>
            <a:r>
              <a:rPr lang="en-US" dirty="0"/>
              <a:t>: Various configurations available for different mapping requirements (e.g., 50 MP).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MicaSense</a:t>
            </a:r>
            <a:r>
              <a:rPr lang="en-US" b="1" dirty="0"/>
              <a:t> </a:t>
            </a:r>
            <a:r>
              <a:rPr lang="en-US" b="1" dirty="0" err="1"/>
              <a:t>RedEdge</a:t>
            </a:r>
            <a:r>
              <a:rPr lang="en-US" dirty="0"/>
              <a:t>: Multispectral camera for agricultural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Image Resolution</a:t>
            </a:r>
            <a:r>
              <a:rPr lang="en-US" dirty="0"/>
              <a:t>: Up to 42.4 MP (depending on the camera used).</a:t>
            </a:r>
          </a:p>
          <a:p>
            <a:r>
              <a:rPr lang="en-US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Electric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Configuration</a:t>
            </a:r>
            <a:r>
              <a:rPr lang="en-US" dirty="0"/>
              <a:t>: Fixed-wing design with vertical takeoff and landing (VTOL)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143030-2959-463D-981B-7322FEE44374}"/>
              </a:ext>
            </a:extLst>
          </p:cNvPr>
          <p:cNvSpPr/>
          <p:nvPr/>
        </p:nvSpPr>
        <p:spPr>
          <a:xfrm>
            <a:off x="6374294" y="4404548"/>
            <a:ext cx="56321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Payload Capacity</a:t>
            </a:r>
            <a:r>
              <a:rPr lang="en-US" dirty="0"/>
              <a:t>: Up to 1 kg (2.2 </a:t>
            </a:r>
            <a:r>
              <a:rPr lang="en-US" dirty="0" err="1"/>
              <a:t>lbs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Range</a:t>
            </a:r>
            <a:r>
              <a:rPr lang="en-US" dirty="0"/>
              <a:t>: Can cover areas up to 200 hectares (494 acres) in a single flight, depending on altitude and sensor.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Flight Mode</a:t>
            </a:r>
            <a:r>
              <a:rPr lang="en-US" dirty="0"/>
              <a:t>: Fully autonomous flights using pre-planned missions via </a:t>
            </a:r>
            <a:r>
              <a:rPr lang="en-US" dirty="0" err="1"/>
              <a:t>WingtraPilot</a:t>
            </a:r>
            <a:r>
              <a:rPr lang="en-US" dirty="0"/>
              <a:t>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GPS Accuracy</a:t>
            </a:r>
            <a:r>
              <a:rPr lang="en-US" dirty="0"/>
              <a:t>: Supports RTK for centimeter-level accuracy.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B836F8-1E47-485E-967C-406E379F4EE9}"/>
              </a:ext>
            </a:extLst>
          </p:cNvPr>
          <p:cNvSpPr/>
          <p:nvPr/>
        </p:nvSpPr>
        <p:spPr>
          <a:xfrm>
            <a:off x="6452178" y="276485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 err="1"/>
              <a:t>WingtraOne</a:t>
            </a:r>
            <a:r>
              <a:rPr lang="en-US" dirty="0"/>
              <a:t> is manufactured by </a:t>
            </a:r>
            <a:r>
              <a:rPr lang="en-US" b="1" dirty="0" err="1"/>
              <a:t>Wingtra</a:t>
            </a:r>
            <a:r>
              <a:rPr lang="en-US" dirty="0"/>
              <a:t>, a Swiss company that specializes in professional mapping and surveying drones.</a:t>
            </a:r>
          </a:p>
        </p:txBody>
      </p:sp>
    </p:spTree>
    <p:extLst>
      <p:ext uri="{BB962C8B-B14F-4D97-AF65-F5344CB8AC3E}">
        <p14:creationId xmlns:p14="http://schemas.microsoft.com/office/powerpoint/2010/main" val="2356863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BFBA-93D1-4D92-806D-2BD1B368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5043"/>
            <a:ext cx="9875520" cy="967409"/>
          </a:xfrm>
        </p:spPr>
        <p:txBody>
          <a:bodyPr/>
          <a:lstStyle/>
          <a:p>
            <a:pPr algn="ctr"/>
            <a:r>
              <a:rPr lang="en-IN" b="1" dirty="0"/>
              <a:t>Delivery Services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32D9C4-0551-48FA-BECA-8CF982829C49}"/>
              </a:ext>
            </a:extLst>
          </p:cNvPr>
          <p:cNvSpPr/>
          <p:nvPr/>
        </p:nvSpPr>
        <p:spPr>
          <a:xfrm>
            <a:off x="9631379" y="345447"/>
            <a:ext cx="17908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Zipline Drones</a:t>
            </a:r>
          </a:p>
        </p:txBody>
      </p:sp>
      <p:pic>
        <p:nvPicPr>
          <p:cNvPr id="9218" name="Picture 2" descr="Drone Delivery Startup Zipline Boosts ...">
            <a:extLst>
              <a:ext uri="{FF2B5EF4-FFF2-40B4-BE49-F238E27FC236}">
                <a16:creationId xmlns:a16="http://schemas.microsoft.com/office/drawing/2014/main" id="{29F29DA5-94DF-4B28-967B-5421E1FE8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588" y="825961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436DDF-20F1-4B33-8866-943466A56ED5}"/>
              </a:ext>
            </a:extLst>
          </p:cNvPr>
          <p:cNvSpPr/>
          <p:nvPr/>
        </p:nvSpPr>
        <p:spPr>
          <a:xfrm>
            <a:off x="344557" y="1232452"/>
            <a:ext cx="554450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Flight Time</a:t>
            </a:r>
            <a:r>
              <a:rPr lang="en-US" dirty="0"/>
              <a:t>: Typically up to 3 hours (varies depending on mission and payload)</a:t>
            </a:r>
          </a:p>
          <a:p>
            <a:r>
              <a:rPr lang="en-US" b="1" dirty="0"/>
              <a:t>2. Payload Capacity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Payload</a:t>
            </a:r>
            <a:r>
              <a:rPr lang="en-US" dirty="0"/>
              <a:t>: Up to 1.75 kg (3.9 </a:t>
            </a:r>
            <a:r>
              <a:rPr lang="en-US" dirty="0" err="1"/>
              <a:t>lbs</a:t>
            </a:r>
            <a:r>
              <a:rPr lang="en-US" dirty="0"/>
              <a:t>) per flight, depending on the model.</a:t>
            </a:r>
          </a:p>
          <a:p>
            <a:r>
              <a:rPr lang="en-US" b="1" dirty="0"/>
              <a:t>3.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Basic Camera</a:t>
            </a:r>
            <a:r>
              <a:rPr lang="en-US" dirty="0"/>
              <a:t>: Often equipped with a standard camera for navigation and monitoring; specific sensor options can vary by application.</a:t>
            </a:r>
          </a:p>
          <a:p>
            <a:r>
              <a:rPr lang="en-US" b="1" dirty="0"/>
              <a:t>4.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Electric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Configuration</a:t>
            </a:r>
            <a:r>
              <a:rPr lang="en-US" dirty="0"/>
              <a:t>: Fixed-wing design with vertical takeoff and landing (VTOL) capabilities.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035B7-2830-4D47-87CE-9A97530A104C}"/>
              </a:ext>
            </a:extLst>
          </p:cNvPr>
          <p:cNvSpPr/>
          <p:nvPr/>
        </p:nvSpPr>
        <p:spPr>
          <a:xfrm>
            <a:off x="6771860" y="4149372"/>
            <a:ext cx="54048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Range</a:t>
            </a:r>
            <a:r>
              <a:rPr lang="en-US" dirty="0"/>
              <a:t>: Can cover distances of up to 160 km (99 miles) round trip.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Flight Mode</a:t>
            </a:r>
            <a:r>
              <a:rPr lang="en-US" dirty="0"/>
              <a:t>: Operates in fully autonomous mode with pre-programmed delivery routes.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GPS Accuracy</a:t>
            </a:r>
            <a:r>
              <a:rPr lang="en-US" dirty="0"/>
              <a:t>: High-precision GPS for accurate navigation and delivery.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B1F37-6ACA-4CBD-99AA-B63EA04A04ED}"/>
              </a:ext>
            </a:extLst>
          </p:cNvPr>
          <p:cNvSpPr/>
          <p:nvPr/>
        </p:nvSpPr>
        <p:spPr>
          <a:xfrm>
            <a:off x="7360166" y="3010834"/>
            <a:ext cx="4456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Zipline</a:t>
            </a:r>
            <a:r>
              <a:rPr lang="en-US" dirty="0"/>
              <a:t> is the company behind Zipline drones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04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elivering DoorDash orders in Australia ...">
            <a:extLst>
              <a:ext uri="{FF2B5EF4-FFF2-40B4-BE49-F238E27FC236}">
                <a16:creationId xmlns:a16="http://schemas.microsoft.com/office/drawing/2014/main" id="{DB80F6F0-4117-474F-B7CA-7C966FF06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358" y="96555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1843CC-FB06-4FE3-9271-A0B6EEAE837E}"/>
              </a:ext>
            </a:extLst>
          </p:cNvPr>
          <p:cNvSpPr/>
          <p:nvPr/>
        </p:nvSpPr>
        <p:spPr>
          <a:xfrm>
            <a:off x="8458351" y="466648"/>
            <a:ext cx="2313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Wing (by Alphabet)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3F2A01-F759-4B3A-BDA2-D278AD257E1E}"/>
              </a:ext>
            </a:extLst>
          </p:cNvPr>
          <p:cNvSpPr/>
          <p:nvPr/>
        </p:nvSpPr>
        <p:spPr>
          <a:xfrm>
            <a:off x="291548" y="474345"/>
            <a:ext cx="453224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Flight Time</a:t>
            </a:r>
            <a:r>
              <a:rPr lang="en-US" dirty="0"/>
              <a:t>: Approximately 30 minutes (varies based on payload and conditions)</a:t>
            </a:r>
          </a:p>
          <a:p>
            <a:r>
              <a:rPr lang="en-US" b="1" dirty="0"/>
              <a:t>2. Payload Capacity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Payload</a:t>
            </a:r>
            <a:r>
              <a:rPr lang="en-US" dirty="0"/>
              <a:t>: Up to 1.5 kg (3.3 </a:t>
            </a:r>
            <a:r>
              <a:rPr lang="en-US" dirty="0" err="1"/>
              <a:t>lbs</a:t>
            </a:r>
            <a:r>
              <a:rPr lang="en-US" dirty="0"/>
              <a:t>) per delivery.</a:t>
            </a:r>
          </a:p>
          <a:p>
            <a:r>
              <a:rPr lang="en-US" b="1" dirty="0"/>
              <a:t>3.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Basic Camera</a:t>
            </a:r>
            <a:r>
              <a:rPr lang="en-US" dirty="0"/>
              <a:t>: Equipped with cameras for navigation, obstacle avoidance, and monitoring; specific sensor details are not widely publicized.</a:t>
            </a:r>
          </a:p>
          <a:p>
            <a:r>
              <a:rPr lang="en-US" b="1" dirty="0"/>
              <a:t>4.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Electric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Configuration</a:t>
            </a:r>
            <a:r>
              <a:rPr lang="en-US" dirty="0"/>
              <a:t>: Multirotor design with vertical takeoff and landing (VTOL) capabilities.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758A1B-C4DE-44DD-9D4D-91771D53D5D9}"/>
              </a:ext>
            </a:extLst>
          </p:cNvPr>
          <p:cNvSpPr/>
          <p:nvPr/>
        </p:nvSpPr>
        <p:spPr>
          <a:xfrm>
            <a:off x="4969565" y="373855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Range</a:t>
            </a:r>
            <a:r>
              <a:rPr lang="en-US" dirty="0"/>
              <a:t>: Can cover distances up to 10 km (6.2 miles) from the launch point.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Delivery Speed</a:t>
            </a:r>
            <a:r>
              <a:rPr lang="en-US" dirty="0"/>
              <a:t>: Typically around 100 km/h (62 mph) for efficient delivery.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Flight Mode</a:t>
            </a:r>
            <a:r>
              <a:rPr lang="en-US" dirty="0"/>
              <a:t>: Fully autonomous with pre-programmed flight paths.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9EBAD-E582-4EDE-9300-2529AEBB4D4E}"/>
              </a:ext>
            </a:extLst>
          </p:cNvPr>
          <p:cNvSpPr/>
          <p:nvPr/>
        </p:nvSpPr>
        <p:spPr>
          <a:xfrm>
            <a:off x="4969564" y="2946446"/>
            <a:ext cx="73814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Wing</a:t>
            </a:r>
            <a:r>
              <a:rPr lang="en-US" dirty="0"/>
              <a:t> is a subsidiary of </a:t>
            </a:r>
            <a:r>
              <a:rPr lang="en-US" b="1" dirty="0"/>
              <a:t>Alphabet Inc.</a:t>
            </a:r>
            <a:r>
              <a:rPr lang="en-US" dirty="0"/>
              <a:t>, the parent company of Google.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72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7F6D-46E2-4D70-961C-4D1D94BF2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51791"/>
            <a:ext cx="9875520" cy="980661"/>
          </a:xfrm>
        </p:spPr>
        <p:txBody>
          <a:bodyPr/>
          <a:lstStyle/>
          <a:p>
            <a:pPr algn="ctr"/>
            <a:r>
              <a:rPr lang="en-IN" b="1" dirty="0"/>
              <a:t>Smart Agriculture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FA9C79-FEBA-4D82-8475-0E5EBE759C39}"/>
              </a:ext>
            </a:extLst>
          </p:cNvPr>
          <p:cNvSpPr/>
          <p:nvPr/>
        </p:nvSpPr>
        <p:spPr>
          <a:xfrm>
            <a:off x="9229557" y="1032397"/>
            <a:ext cx="1645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DJI </a:t>
            </a:r>
            <a:r>
              <a:rPr lang="en-IN" sz="2000" b="1" dirty="0" err="1">
                <a:highlight>
                  <a:srgbClr val="00FFFF"/>
                </a:highlight>
              </a:rPr>
              <a:t>Agras</a:t>
            </a:r>
            <a:r>
              <a:rPr lang="en-IN" sz="2000" b="1" dirty="0">
                <a:highlight>
                  <a:srgbClr val="00FFFF"/>
                </a:highlight>
              </a:rPr>
              <a:t> T30</a:t>
            </a:r>
          </a:p>
        </p:txBody>
      </p:sp>
      <p:pic>
        <p:nvPicPr>
          <p:cNvPr id="11266" name="Picture 2" descr="DJI Agricultural Drones">
            <a:extLst>
              <a:ext uri="{FF2B5EF4-FFF2-40B4-BE49-F238E27FC236}">
                <a16:creationId xmlns:a16="http://schemas.microsoft.com/office/drawing/2014/main" id="{345E5838-3A14-4507-A6AD-F1455074F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783" y="143250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9D7838-2BF5-4B4C-845D-0D1E15D598DA}"/>
              </a:ext>
            </a:extLst>
          </p:cNvPr>
          <p:cNvSpPr/>
          <p:nvPr/>
        </p:nvSpPr>
        <p:spPr>
          <a:xfrm>
            <a:off x="636104" y="1032397"/>
            <a:ext cx="545989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Capacity</a:t>
            </a:r>
            <a:r>
              <a:rPr lang="en-US" dirty="0"/>
              <a:t>: 12,000 </a:t>
            </a:r>
            <a:r>
              <a:rPr lang="en-US" dirty="0" err="1"/>
              <a:t>mAh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Flight Time</a:t>
            </a:r>
            <a:r>
              <a:rPr lang="en-US" dirty="0"/>
              <a:t>: Up to 30 minutes (varies with payload)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Charging Time</a:t>
            </a:r>
            <a:r>
              <a:rPr lang="en-US" dirty="0"/>
              <a:t>: Approximately 60 minutes with the standard charger</a:t>
            </a:r>
          </a:p>
          <a:p>
            <a:r>
              <a:rPr lang="en-US" b="1" dirty="0"/>
              <a:t>2. Payload Capacity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Payload</a:t>
            </a:r>
            <a:r>
              <a:rPr lang="en-US" dirty="0"/>
              <a:t>: Up to 30 kg (66 </a:t>
            </a:r>
            <a:r>
              <a:rPr lang="en-US" dirty="0" err="1"/>
              <a:t>lbs</a:t>
            </a:r>
            <a:r>
              <a:rPr lang="en-US" dirty="0"/>
              <a:t>) for spraying and other applications.</a:t>
            </a:r>
          </a:p>
          <a:p>
            <a:r>
              <a:rPr lang="en-US" b="1" dirty="0"/>
              <a:t>3.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Sensor</a:t>
            </a:r>
            <a:r>
              <a:rPr lang="en-US" dirty="0"/>
              <a:t>: Integrated RGB camera for real-time monitoring and mapping (specific details may vary).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Spray System</a:t>
            </a:r>
            <a:r>
              <a:rPr lang="en-US" dirty="0"/>
              <a:t>: Advanced spraying system with multiple nozzles for efficient application.</a:t>
            </a:r>
          </a:p>
          <a:p>
            <a:r>
              <a:rPr lang="en-US" b="1" dirty="0"/>
              <a:t>4.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Configuration</a:t>
            </a:r>
            <a:r>
              <a:rPr lang="en-US" dirty="0"/>
              <a:t>: Quadrotor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43A455-0C01-4A44-BBCC-020CEB82FA3D}"/>
              </a:ext>
            </a:extLst>
          </p:cNvPr>
          <p:cNvSpPr/>
          <p:nvPr/>
        </p:nvSpPr>
        <p:spPr>
          <a:xfrm>
            <a:off x="6096000" y="4409830"/>
            <a:ext cx="530086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Operating Range</a:t>
            </a:r>
            <a:r>
              <a:rPr lang="en-US" dirty="0"/>
              <a:t>: Up to 6 km (3.7 miles) depending on environmental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Flight Speed</a:t>
            </a:r>
            <a:r>
              <a:rPr lang="en-US" dirty="0"/>
              <a:t>: Up to 10 m/s (22.4 mph) for efficient coverage.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Pesticide and Fertilizer Application</a:t>
            </a:r>
            <a:r>
              <a:rPr lang="en-US" dirty="0"/>
              <a:t>: Optimized for agricultural spraying tasks.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4AC31D-D42E-4B9A-9E30-C5ECCE985CDD}"/>
              </a:ext>
            </a:extLst>
          </p:cNvPr>
          <p:cNvSpPr/>
          <p:nvPr/>
        </p:nvSpPr>
        <p:spPr>
          <a:xfrm>
            <a:off x="5932783" y="301104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DJI </a:t>
            </a:r>
            <a:r>
              <a:rPr lang="en-US" b="1" dirty="0" err="1"/>
              <a:t>Agras</a:t>
            </a:r>
            <a:r>
              <a:rPr lang="en-US" b="1" dirty="0"/>
              <a:t> T30</a:t>
            </a:r>
            <a:r>
              <a:rPr lang="en-US" dirty="0"/>
              <a:t> is manufactured by </a:t>
            </a:r>
            <a:r>
              <a:rPr lang="en-US" b="1" dirty="0"/>
              <a:t>DJI (</a:t>
            </a:r>
            <a:r>
              <a:rPr lang="en-US" b="1" dirty="0" err="1"/>
              <a:t>Dà-Jiāng</a:t>
            </a:r>
            <a:r>
              <a:rPr lang="en-US" b="1" dirty="0"/>
              <a:t> Innovations Science and Technology Co., Ltd.)</a:t>
            </a:r>
            <a:r>
              <a:rPr lang="en-US" dirty="0"/>
              <a:t>, a leading drone manufacturer based in Shenzhen, China.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87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D3AB3B-7FF0-4C89-AB84-C3490F9EE779}"/>
              </a:ext>
            </a:extLst>
          </p:cNvPr>
          <p:cNvSpPr/>
          <p:nvPr/>
        </p:nvSpPr>
        <p:spPr>
          <a:xfrm>
            <a:off x="9305490" y="540891"/>
            <a:ext cx="21340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err="1">
                <a:highlight>
                  <a:srgbClr val="00FFFF"/>
                </a:highlight>
              </a:rPr>
              <a:t>senseFly</a:t>
            </a:r>
            <a:r>
              <a:rPr lang="en-IN" sz="2000" b="1" dirty="0">
                <a:highlight>
                  <a:srgbClr val="00FFFF"/>
                </a:highlight>
              </a:rPr>
              <a:t> </a:t>
            </a:r>
            <a:r>
              <a:rPr lang="en-IN" sz="2000" b="1" dirty="0" err="1">
                <a:highlight>
                  <a:srgbClr val="00FFFF"/>
                </a:highlight>
              </a:rPr>
              <a:t>eBee</a:t>
            </a:r>
            <a:r>
              <a:rPr lang="en-IN" sz="2000" b="1" dirty="0">
                <a:highlight>
                  <a:srgbClr val="00FFFF"/>
                </a:highlight>
              </a:rPr>
              <a:t> SQ</a:t>
            </a:r>
          </a:p>
        </p:txBody>
      </p:sp>
      <p:pic>
        <p:nvPicPr>
          <p:cNvPr id="12290" name="Picture 2" descr="eBee SQ">
            <a:extLst>
              <a:ext uri="{FF2B5EF4-FFF2-40B4-BE49-F238E27FC236}">
                <a16:creationId xmlns:a16="http://schemas.microsoft.com/office/drawing/2014/main" id="{36D37555-7314-42DB-BE4D-11D5E52E5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875" y="974924"/>
            <a:ext cx="2581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503F9D-92FC-4FE0-90E9-C7CD1C4BB1D0}"/>
              </a:ext>
            </a:extLst>
          </p:cNvPr>
          <p:cNvSpPr/>
          <p:nvPr/>
        </p:nvSpPr>
        <p:spPr>
          <a:xfrm>
            <a:off x="371061" y="941001"/>
            <a:ext cx="46117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Type</a:t>
            </a:r>
            <a:r>
              <a:rPr lang="en-IN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Capacity</a:t>
            </a:r>
            <a:r>
              <a:rPr lang="en-IN" dirty="0"/>
              <a:t>: 14,000 </a:t>
            </a:r>
            <a:r>
              <a:rPr lang="en-IN" dirty="0" err="1"/>
              <a:t>mAh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Max Flight Time</a:t>
            </a:r>
            <a:r>
              <a:rPr lang="en-IN" dirty="0"/>
              <a:t>: Up to 90 minutes (varies based on payload and conditions)</a:t>
            </a:r>
          </a:p>
          <a:p>
            <a:r>
              <a:rPr lang="en-IN" b="1" dirty="0"/>
              <a:t>2. Payload Capacity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Max Payload</a:t>
            </a:r>
            <a:r>
              <a:rPr lang="en-IN" dirty="0"/>
              <a:t>: Up to 1.5 kg (3.3 lbs)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Compatible Sensors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/>
              <a:t>MicaSense</a:t>
            </a:r>
            <a:r>
              <a:rPr lang="en-IN" b="1" dirty="0"/>
              <a:t> </a:t>
            </a:r>
            <a:r>
              <a:rPr lang="en-IN" b="1" dirty="0" err="1"/>
              <a:t>RedEdge</a:t>
            </a:r>
            <a:r>
              <a:rPr lang="en-IN" dirty="0"/>
              <a:t>: Multispectral camera for vegetation analysis.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S.O.D.A.</a:t>
            </a:r>
            <a:r>
              <a:rPr lang="en-IN" dirty="0"/>
              <a:t>: 20 MP RGB camera for high-resolution mapping.</a:t>
            </a:r>
          </a:p>
          <a:p>
            <a:r>
              <a:rPr lang="en-IN" b="1" dirty="0"/>
              <a:t>3.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Type</a:t>
            </a:r>
            <a:r>
              <a:rPr lang="en-IN" dirty="0"/>
              <a:t>: Electric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Configuration</a:t>
            </a:r>
            <a:r>
              <a:rPr lang="en-IN" dirty="0"/>
              <a:t>: Fixed-wing design with vertical </a:t>
            </a:r>
            <a:r>
              <a:rPr lang="en-IN" dirty="0" err="1"/>
              <a:t>takeoff</a:t>
            </a:r>
            <a:r>
              <a:rPr lang="en-IN" dirty="0"/>
              <a:t> and landing (VTOL)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A2C7B-191C-4AEA-B51E-135E19C10660}"/>
              </a:ext>
            </a:extLst>
          </p:cNvPr>
          <p:cNvSpPr/>
          <p:nvPr/>
        </p:nvSpPr>
        <p:spPr>
          <a:xfrm>
            <a:off x="5724939" y="4562783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Max Range</a:t>
            </a:r>
            <a:r>
              <a:rPr lang="en-IN"/>
              <a:t>: Can cover areas up to 200 hectares (494 acres) in a single flight, depending on altitude and sensor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Flight Mode</a:t>
            </a:r>
            <a:r>
              <a:rPr lang="en-IN"/>
              <a:t>: Fully autonomous flights using pre-planned missions via eMotion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GPS Accuracy</a:t>
            </a:r>
            <a:r>
              <a:rPr lang="en-IN"/>
              <a:t>: Supports RTK for centimeter-level accuracy.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B432DD-8C2F-4C53-B9AB-9F135684512F}"/>
              </a:ext>
            </a:extLst>
          </p:cNvPr>
          <p:cNvSpPr/>
          <p:nvPr/>
        </p:nvSpPr>
        <p:spPr>
          <a:xfrm>
            <a:off x="5830957" y="278049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 err="1"/>
              <a:t>senseFly</a:t>
            </a:r>
            <a:r>
              <a:rPr lang="en-US" b="1" dirty="0"/>
              <a:t> </a:t>
            </a:r>
            <a:r>
              <a:rPr lang="en-US" b="1" dirty="0" err="1"/>
              <a:t>eBee</a:t>
            </a:r>
            <a:r>
              <a:rPr lang="en-US" b="1" dirty="0"/>
              <a:t> SQ</a:t>
            </a:r>
            <a:r>
              <a:rPr lang="en-US" dirty="0"/>
              <a:t> is manufactured by </a:t>
            </a:r>
            <a:r>
              <a:rPr lang="en-US" b="1" dirty="0" err="1"/>
              <a:t>senseFly</a:t>
            </a:r>
            <a:r>
              <a:rPr lang="en-US" dirty="0"/>
              <a:t>, a Swiss company that specializes in drone solutions for mapping and surveying, and is part of the Parrot Group.</a:t>
            </a:r>
          </a:p>
        </p:txBody>
      </p:sp>
    </p:spTree>
    <p:extLst>
      <p:ext uri="{BB962C8B-B14F-4D97-AF65-F5344CB8AC3E}">
        <p14:creationId xmlns:p14="http://schemas.microsoft.com/office/powerpoint/2010/main" val="181819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7D55-DDAA-4706-A4DE-F8EF05A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51792"/>
            <a:ext cx="9875520" cy="927652"/>
          </a:xfrm>
        </p:spPr>
        <p:txBody>
          <a:bodyPr/>
          <a:lstStyle/>
          <a:p>
            <a:pPr algn="ctr"/>
            <a:r>
              <a:rPr lang="en-IN" b="1" dirty="0"/>
              <a:t>Waste Management</a:t>
            </a:r>
          </a:p>
        </p:txBody>
      </p:sp>
      <p:pic>
        <p:nvPicPr>
          <p:cNvPr id="13314" name="Picture 2" descr="Introducing Parrot Bluegrass Fields ...">
            <a:extLst>
              <a:ext uri="{FF2B5EF4-FFF2-40B4-BE49-F238E27FC236}">
                <a16:creationId xmlns:a16="http://schemas.microsoft.com/office/drawing/2014/main" id="{5D0AC005-5BAA-4B6C-BF29-491E4DF55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1333571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6F695B-0714-43AC-9D15-7FFBB768EAFD}"/>
              </a:ext>
            </a:extLst>
          </p:cNvPr>
          <p:cNvSpPr/>
          <p:nvPr/>
        </p:nvSpPr>
        <p:spPr>
          <a:xfrm>
            <a:off x="9000711" y="715618"/>
            <a:ext cx="27158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Parrot Bluegrass Fields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A6735A-3421-4FB6-A6D6-F39AEB90CA9E}"/>
              </a:ext>
            </a:extLst>
          </p:cNvPr>
          <p:cNvSpPr/>
          <p:nvPr/>
        </p:nvSpPr>
        <p:spPr>
          <a:xfrm>
            <a:off x="304800" y="815517"/>
            <a:ext cx="530335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Battery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LiPo (Lithium Polymer)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Capacity</a:t>
            </a:r>
            <a:r>
              <a:rPr lang="en-US" dirty="0"/>
              <a:t>: 3,400 </a:t>
            </a:r>
            <a:r>
              <a:rPr lang="en-US" dirty="0" err="1"/>
              <a:t>mAh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Flight Time</a:t>
            </a:r>
            <a:r>
              <a:rPr lang="en-US" dirty="0"/>
              <a:t>: Up to 25 minutes (varies based on conditions and payload)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Charging Time</a:t>
            </a:r>
            <a:r>
              <a:rPr lang="en-US" dirty="0"/>
              <a:t>: Approximately 60 minutes with the standard charger</a:t>
            </a:r>
          </a:p>
          <a:p>
            <a:r>
              <a:rPr lang="en-US" b="1" dirty="0"/>
              <a:t>2. Payload Capacity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Payload</a:t>
            </a:r>
            <a:r>
              <a:rPr lang="en-US" dirty="0"/>
              <a:t>: Designed primarily for integrated sensors; can carry additional payloads such as multispectral cameras.</a:t>
            </a:r>
          </a:p>
          <a:p>
            <a:r>
              <a:rPr lang="en-US" b="1" dirty="0"/>
              <a:t>3. Camera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Main Camera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Sensor</a:t>
            </a:r>
            <a:r>
              <a:rPr lang="en-US" dirty="0"/>
              <a:t>: 14 MP RGB camera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Video Resolution</a:t>
            </a:r>
            <a:r>
              <a:rPr lang="en-US" dirty="0"/>
              <a:t>: 1080p at 30 fps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Compatible Sensors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Parrot Sequoia</a:t>
            </a:r>
            <a:r>
              <a:rPr lang="en-US" dirty="0"/>
              <a:t>: Multispectral sensor for crop monitoring and analysis.</a:t>
            </a:r>
          </a:p>
          <a:p>
            <a:r>
              <a:rPr lang="en-US" b="1" dirty="0"/>
              <a:t>4.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Brushless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Configuration</a:t>
            </a:r>
            <a:r>
              <a:rPr lang="en-US" dirty="0"/>
              <a:t>: Quadrotor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9285D-CB01-4BE3-8AF0-F27E37829B60}"/>
              </a:ext>
            </a:extLst>
          </p:cNvPr>
          <p:cNvSpPr/>
          <p:nvPr/>
        </p:nvSpPr>
        <p:spPr>
          <a:xfrm>
            <a:off x="5791200" y="472432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Additional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 Range</a:t>
            </a:r>
            <a:r>
              <a:rPr lang="en-US" dirty="0"/>
              <a:t>: Up to 2 km (1.24 miles) with enhanced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Flight Speed</a:t>
            </a:r>
            <a:r>
              <a:rPr lang="en-US" dirty="0"/>
              <a:t>: Up to 14 m/s (31 mph).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Flight Mode</a:t>
            </a:r>
            <a:r>
              <a:rPr lang="en-US" dirty="0"/>
              <a:t>: Fully autonomous with pre-planned missions via the Parrot </a:t>
            </a:r>
            <a:r>
              <a:rPr lang="en-US" dirty="0" err="1"/>
              <a:t>FreeFlight</a:t>
            </a:r>
            <a:r>
              <a:rPr lang="en-US" dirty="0"/>
              <a:t> Pro app.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BC94C-7DBF-4438-AFA6-EDD77665A7C8}"/>
              </a:ext>
            </a:extLst>
          </p:cNvPr>
          <p:cNvSpPr/>
          <p:nvPr/>
        </p:nvSpPr>
        <p:spPr>
          <a:xfrm>
            <a:off x="5791200" y="315665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Parrot Bluegrass Fields</a:t>
            </a:r>
            <a:r>
              <a:rPr lang="en-US" dirty="0"/>
              <a:t> is manufactured by </a:t>
            </a:r>
            <a:r>
              <a:rPr lang="en-US" b="1" dirty="0"/>
              <a:t>Parrot SA</a:t>
            </a:r>
            <a:r>
              <a:rPr lang="en-US" dirty="0"/>
              <a:t>, a French company known for its innovative drone solutions, particularly in agriculture and mapping.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08368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110</TotalTime>
  <Words>2533</Words>
  <Application>Microsoft Office PowerPoint</Application>
  <PresentationFormat>Widescreen</PresentationFormat>
  <Paragraphs>295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Corbel</vt:lpstr>
      <vt:lpstr>Basis</vt:lpstr>
      <vt:lpstr>PowerPoint Presentation</vt:lpstr>
      <vt:lpstr>Infrastructure Monitoring</vt:lpstr>
      <vt:lpstr>PowerPoint Presentation</vt:lpstr>
      <vt:lpstr>Traffic Management</vt:lpstr>
      <vt:lpstr>PowerPoint Presentation</vt:lpstr>
      <vt:lpstr>Environmental Monitoring</vt:lpstr>
      <vt:lpstr>Public Safety and Emergency Response</vt:lpstr>
      <vt:lpstr>PowerPoint Presentation</vt:lpstr>
      <vt:lpstr>Urban Planning</vt:lpstr>
      <vt:lpstr>Delivery Services</vt:lpstr>
      <vt:lpstr>PowerPoint Presentation</vt:lpstr>
      <vt:lpstr>Smart Agriculture</vt:lpstr>
      <vt:lpstr>PowerPoint Presentation</vt:lpstr>
      <vt:lpstr>Waste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11</cp:revision>
  <dcterms:created xsi:type="dcterms:W3CDTF">2024-09-30T14:32:55Z</dcterms:created>
  <dcterms:modified xsi:type="dcterms:W3CDTF">2024-10-03T04:10:18Z</dcterms:modified>
</cp:coreProperties>
</file>
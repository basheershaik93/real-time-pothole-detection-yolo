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1"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C6A22-EB77-4F21-8E4E-79833F4A5C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CE46DE9-5E80-4F6C-90DE-66B5A07A71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3046B5D-5663-40E9-860A-D34F42BB1A5C}"/>
              </a:ext>
            </a:extLst>
          </p:cNvPr>
          <p:cNvSpPr>
            <a:spLocks noGrp="1"/>
          </p:cNvSpPr>
          <p:nvPr>
            <p:ph type="dt" sz="half" idx="10"/>
          </p:nvPr>
        </p:nvSpPr>
        <p:spPr/>
        <p:txBody>
          <a:bodyPr/>
          <a:lstStyle/>
          <a:p>
            <a:fld id="{3736CFA8-3CE8-497D-9ACC-4B247E533A34}" type="datetimeFigureOut">
              <a:rPr lang="en-IN" smtClean="0"/>
              <a:t>06-10-2024</a:t>
            </a:fld>
            <a:endParaRPr lang="en-IN"/>
          </a:p>
        </p:txBody>
      </p:sp>
      <p:sp>
        <p:nvSpPr>
          <p:cNvPr id="5" name="Footer Placeholder 4">
            <a:extLst>
              <a:ext uri="{FF2B5EF4-FFF2-40B4-BE49-F238E27FC236}">
                <a16:creationId xmlns:a16="http://schemas.microsoft.com/office/drawing/2014/main" id="{A16A3519-1196-4A0A-B817-1421CBB4C7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7F2BBE-6DA1-4D73-B6EC-4D662360D95B}"/>
              </a:ext>
            </a:extLst>
          </p:cNvPr>
          <p:cNvSpPr>
            <a:spLocks noGrp="1"/>
          </p:cNvSpPr>
          <p:nvPr>
            <p:ph type="sldNum" sz="quarter" idx="12"/>
          </p:nvPr>
        </p:nvSpPr>
        <p:spPr/>
        <p:txBody>
          <a:bodyPr/>
          <a:lstStyle/>
          <a:p>
            <a:fld id="{7A6F4692-A44E-48B1-B7FC-2B498D19FEDC}" type="slidenum">
              <a:rPr lang="en-IN" smtClean="0"/>
              <a:t>‹#›</a:t>
            </a:fld>
            <a:endParaRPr lang="en-IN"/>
          </a:p>
        </p:txBody>
      </p:sp>
    </p:spTree>
    <p:extLst>
      <p:ext uri="{BB962C8B-B14F-4D97-AF65-F5344CB8AC3E}">
        <p14:creationId xmlns:p14="http://schemas.microsoft.com/office/powerpoint/2010/main" val="2664515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546FA-BBEF-4833-8E4C-3B41A5A2F5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E4F763-B31A-4D4C-8038-12693DACEA3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1DB572-46E3-4DAD-8936-E7B6FFD11226}"/>
              </a:ext>
            </a:extLst>
          </p:cNvPr>
          <p:cNvSpPr>
            <a:spLocks noGrp="1"/>
          </p:cNvSpPr>
          <p:nvPr>
            <p:ph type="dt" sz="half" idx="10"/>
          </p:nvPr>
        </p:nvSpPr>
        <p:spPr/>
        <p:txBody>
          <a:bodyPr/>
          <a:lstStyle/>
          <a:p>
            <a:fld id="{3736CFA8-3CE8-497D-9ACC-4B247E533A34}" type="datetimeFigureOut">
              <a:rPr lang="en-IN" smtClean="0"/>
              <a:t>06-10-2024</a:t>
            </a:fld>
            <a:endParaRPr lang="en-IN"/>
          </a:p>
        </p:txBody>
      </p:sp>
      <p:sp>
        <p:nvSpPr>
          <p:cNvPr id="5" name="Footer Placeholder 4">
            <a:extLst>
              <a:ext uri="{FF2B5EF4-FFF2-40B4-BE49-F238E27FC236}">
                <a16:creationId xmlns:a16="http://schemas.microsoft.com/office/drawing/2014/main" id="{2DA9900C-38BD-4637-B9C8-5E29B13469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F71FB1-37CF-4AB9-88EE-613148F264F5}"/>
              </a:ext>
            </a:extLst>
          </p:cNvPr>
          <p:cNvSpPr>
            <a:spLocks noGrp="1"/>
          </p:cNvSpPr>
          <p:nvPr>
            <p:ph type="sldNum" sz="quarter" idx="12"/>
          </p:nvPr>
        </p:nvSpPr>
        <p:spPr/>
        <p:txBody>
          <a:bodyPr/>
          <a:lstStyle/>
          <a:p>
            <a:fld id="{7A6F4692-A44E-48B1-B7FC-2B498D19FEDC}" type="slidenum">
              <a:rPr lang="en-IN" smtClean="0"/>
              <a:t>‹#›</a:t>
            </a:fld>
            <a:endParaRPr lang="en-IN"/>
          </a:p>
        </p:txBody>
      </p:sp>
    </p:spTree>
    <p:extLst>
      <p:ext uri="{BB962C8B-B14F-4D97-AF65-F5344CB8AC3E}">
        <p14:creationId xmlns:p14="http://schemas.microsoft.com/office/powerpoint/2010/main" val="2050776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506D7-D727-49AC-A32B-42636FBC5E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2E715DB-E7B6-4A42-B1E1-D371B6C183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2017C2B-462F-4721-AA15-6B882007CF7A}"/>
              </a:ext>
            </a:extLst>
          </p:cNvPr>
          <p:cNvSpPr>
            <a:spLocks noGrp="1"/>
          </p:cNvSpPr>
          <p:nvPr>
            <p:ph type="dt" sz="half" idx="10"/>
          </p:nvPr>
        </p:nvSpPr>
        <p:spPr/>
        <p:txBody>
          <a:bodyPr/>
          <a:lstStyle/>
          <a:p>
            <a:fld id="{3736CFA8-3CE8-497D-9ACC-4B247E533A34}" type="datetimeFigureOut">
              <a:rPr lang="en-IN" smtClean="0"/>
              <a:t>06-10-2024</a:t>
            </a:fld>
            <a:endParaRPr lang="en-IN"/>
          </a:p>
        </p:txBody>
      </p:sp>
      <p:sp>
        <p:nvSpPr>
          <p:cNvPr id="5" name="Footer Placeholder 4">
            <a:extLst>
              <a:ext uri="{FF2B5EF4-FFF2-40B4-BE49-F238E27FC236}">
                <a16:creationId xmlns:a16="http://schemas.microsoft.com/office/drawing/2014/main" id="{DA60FAA5-9C8B-4450-AECC-876F115EBD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F6DF45-A057-4E78-99AA-AB2D2704BDA5}"/>
              </a:ext>
            </a:extLst>
          </p:cNvPr>
          <p:cNvSpPr>
            <a:spLocks noGrp="1"/>
          </p:cNvSpPr>
          <p:nvPr>
            <p:ph type="sldNum" sz="quarter" idx="12"/>
          </p:nvPr>
        </p:nvSpPr>
        <p:spPr/>
        <p:txBody>
          <a:bodyPr/>
          <a:lstStyle/>
          <a:p>
            <a:fld id="{7A6F4692-A44E-48B1-B7FC-2B498D19FEDC}" type="slidenum">
              <a:rPr lang="en-IN" smtClean="0"/>
              <a:t>‹#›</a:t>
            </a:fld>
            <a:endParaRPr lang="en-IN"/>
          </a:p>
        </p:txBody>
      </p:sp>
    </p:spTree>
    <p:extLst>
      <p:ext uri="{BB962C8B-B14F-4D97-AF65-F5344CB8AC3E}">
        <p14:creationId xmlns:p14="http://schemas.microsoft.com/office/powerpoint/2010/main" val="3161809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E16A3-BA65-4A53-B74E-692EF02E76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DEBC7D-1707-4BD0-BD0F-D7824CC5F22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16A1482-2E38-4F47-9B2E-AE0B3AC88FD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8504009-F59B-4BCE-995C-25DA7371009C}"/>
              </a:ext>
            </a:extLst>
          </p:cNvPr>
          <p:cNvSpPr>
            <a:spLocks noGrp="1"/>
          </p:cNvSpPr>
          <p:nvPr>
            <p:ph type="dt" sz="half" idx="10"/>
          </p:nvPr>
        </p:nvSpPr>
        <p:spPr/>
        <p:txBody>
          <a:bodyPr/>
          <a:lstStyle/>
          <a:p>
            <a:fld id="{3736CFA8-3CE8-497D-9ACC-4B247E533A34}" type="datetimeFigureOut">
              <a:rPr lang="en-IN" smtClean="0"/>
              <a:t>06-10-2024</a:t>
            </a:fld>
            <a:endParaRPr lang="en-IN"/>
          </a:p>
        </p:txBody>
      </p:sp>
      <p:sp>
        <p:nvSpPr>
          <p:cNvPr id="6" name="Footer Placeholder 5">
            <a:extLst>
              <a:ext uri="{FF2B5EF4-FFF2-40B4-BE49-F238E27FC236}">
                <a16:creationId xmlns:a16="http://schemas.microsoft.com/office/drawing/2014/main" id="{B7FAA480-F1D0-4443-9453-7D6F5AEC59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DBAC2EC-1B82-4FC5-BCDE-384C8B2C0D22}"/>
              </a:ext>
            </a:extLst>
          </p:cNvPr>
          <p:cNvSpPr>
            <a:spLocks noGrp="1"/>
          </p:cNvSpPr>
          <p:nvPr>
            <p:ph type="sldNum" sz="quarter" idx="12"/>
          </p:nvPr>
        </p:nvSpPr>
        <p:spPr/>
        <p:txBody>
          <a:bodyPr/>
          <a:lstStyle/>
          <a:p>
            <a:fld id="{7A6F4692-A44E-48B1-B7FC-2B498D19FEDC}" type="slidenum">
              <a:rPr lang="en-IN" smtClean="0"/>
              <a:t>‹#›</a:t>
            </a:fld>
            <a:endParaRPr lang="en-IN"/>
          </a:p>
        </p:txBody>
      </p:sp>
    </p:spTree>
    <p:extLst>
      <p:ext uri="{BB962C8B-B14F-4D97-AF65-F5344CB8AC3E}">
        <p14:creationId xmlns:p14="http://schemas.microsoft.com/office/powerpoint/2010/main" val="3513059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E2DCD-6923-467E-90BE-76CED6A3D91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E00E644-720A-4C4F-BF87-9CD06F7933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2928DC4-DD93-45AC-A5A0-60136FB7AD6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E653189-84FC-418E-BBB8-5F08948AE4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DB2B754-1EC1-4E55-9EC6-F96866893CB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D18D9C4-F856-4841-A020-573124712D3E}"/>
              </a:ext>
            </a:extLst>
          </p:cNvPr>
          <p:cNvSpPr>
            <a:spLocks noGrp="1"/>
          </p:cNvSpPr>
          <p:nvPr>
            <p:ph type="dt" sz="half" idx="10"/>
          </p:nvPr>
        </p:nvSpPr>
        <p:spPr/>
        <p:txBody>
          <a:bodyPr/>
          <a:lstStyle/>
          <a:p>
            <a:fld id="{3736CFA8-3CE8-497D-9ACC-4B247E533A34}" type="datetimeFigureOut">
              <a:rPr lang="en-IN" smtClean="0"/>
              <a:t>06-10-2024</a:t>
            </a:fld>
            <a:endParaRPr lang="en-IN"/>
          </a:p>
        </p:txBody>
      </p:sp>
      <p:sp>
        <p:nvSpPr>
          <p:cNvPr id="8" name="Footer Placeholder 7">
            <a:extLst>
              <a:ext uri="{FF2B5EF4-FFF2-40B4-BE49-F238E27FC236}">
                <a16:creationId xmlns:a16="http://schemas.microsoft.com/office/drawing/2014/main" id="{B8FDCD50-C663-49A1-8310-AFBDA383C39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3D9476-B40A-4959-A828-37A941DF7970}"/>
              </a:ext>
            </a:extLst>
          </p:cNvPr>
          <p:cNvSpPr>
            <a:spLocks noGrp="1"/>
          </p:cNvSpPr>
          <p:nvPr>
            <p:ph type="sldNum" sz="quarter" idx="12"/>
          </p:nvPr>
        </p:nvSpPr>
        <p:spPr/>
        <p:txBody>
          <a:bodyPr/>
          <a:lstStyle/>
          <a:p>
            <a:fld id="{7A6F4692-A44E-48B1-B7FC-2B498D19FEDC}" type="slidenum">
              <a:rPr lang="en-IN" smtClean="0"/>
              <a:t>‹#›</a:t>
            </a:fld>
            <a:endParaRPr lang="en-IN"/>
          </a:p>
        </p:txBody>
      </p:sp>
    </p:spTree>
    <p:extLst>
      <p:ext uri="{BB962C8B-B14F-4D97-AF65-F5344CB8AC3E}">
        <p14:creationId xmlns:p14="http://schemas.microsoft.com/office/powerpoint/2010/main" val="2966879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5E376-C3DD-435E-AEA3-1451D795952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AF9F803-EAC1-4D7A-820D-343DE306956A}"/>
              </a:ext>
            </a:extLst>
          </p:cNvPr>
          <p:cNvSpPr>
            <a:spLocks noGrp="1"/>
          </p:cNvSpPr>
          <p:nvPr>
            <p:ph type="dt" sz="half" idx="10"/>
          </p:nvPr>
        </p:nvSpPr>
        <p:spPr/>
        <p:txBody>
          <a:bodyPr/>
          <a:lstStyle/>
          <a:p>
            <a:fld id="{3736CFA8-3CE8-497D-9ACC-4B247E533A34}" type="datetimeFigureOut">
              <a:rPr lang="en-IN" smtClean="0"/>
              <a:t>06-10-2024</a:t>
            </a:fld>
            <a:endParaRPr lang="en-IN"/>
          </a:p>
        </p:txBody>
      </p:sp>
      <p:sp>
        <p:nvSpPr>
          <p:cNvPr id="4" name="Footer Placeholder 3">
            <a:extLst>
              <a:ext uri="{FF2B5EF4-FFF2-40B4-BE49-F238E27FC236}">
                <a16:creationId xmlns:a16="http://schemas.microsoft.com/office/drawing/2014/main" id="{BE853BB6-2D3D-4CBA-8390-99AC97261EE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C767EA4-3240-42AD-AAE5-6994374F4722}"/>
              </a:ext>
            </a:extLst>
          </p:cNvPr>
          <p:cNvSpPr>
            <a:spLocks noGrp="1"/>
          </p:cNvSpPr>
          <p:nvPr>
            <p:ph type="sldNum" sz="quarter" idx="12"/>
          </p:nvPr>
        </p:nvSpPr>
        <p:spPr/>
        <p:txBody>
          <a:bodyPr/>
          <a:lstStyle/>
          <a:p>
            <a:fld id="{7A6F4692-A44E-48B1-B7FC-2B498D19FEDC}" type="slidenum">
              <a:rPr lang="en-IN" smtClean="0"/>
              <a:t>‹#›</a:t>
            </a:fld>
            <a:endParaRPr lang="en-IN"/>
          </a:p>
        </p:txBody>
      </p:sp>
    </p:spTree>
    <p:extLst>
      <p:ext uri="{BB962C8B-B14F-4D97-AF65-F5344CB8AC3E}">
        <p14:creationId xmlns:p14="http://schemas.microsoft.com/office/powerpoint/2010/main" val="3045594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ECEFA9-0AB0-4B19-A4D8-E5ABC8144C0E}"/>
              </a:ext>
            </a:extLst>
          </p:cNvPr>
          <p:cNvSpPr>
            <a:spLocks noGrp="1"/>
          </p:cNvSpPr>
          <p:nvPr>
            <p:ph type="dt" sz="half" idx="10"/>
          </p:nvPr>
        </p:nvSpPr>
        <p:spPr/>
        <p:txBody>
          <a:bodyPr/>
          <a:lstStyle/>
          <a:p>
            <a:fld id="{3736CFA8-3CE8-497D-9ACC-4B247E533A34}" type="datetimeFigureOut">
              <a:rPr lang="en-IN" smtClean="0"/>
              <a:t>06-10-2024</a:t>
            </a:fld>
            <a:endParaRPr lang="en-IN"/>
          </a:p>
        </p:txBody>
      </p:sp>
      <p:sp>
        <p:nvSpPr>
          <p:cNvPr id="3" name="Footer Placeholder 2">
            <a:extLst>
              <a:ext uri="{FF2B5EF4-FFF2-40B4-BE49-F238E27FC236}">
                <a16:creationId xmlns:a16="http://schemas.microsoft.com/office/drawing/2014/main" id="{2B86F539-6BD9-413C-B436-4AC2A5DAF06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360BFE1-7AF4-42E6-AC56-5AA6B399E462}"/>
              </a:ext>
            </a:extLst>
          </p:cNvPr>
          <p:cNvSpPr>
            <a:spLocks noGrp="1"/>
          </p:cNvSpPr>
          <p:nvPr>
            <p:ph type="sldNum" sz="quarter" idx="12"/>
          </p:nvPr>
        </p:nvSpPr>
        <p:spPr/>
        <p:txBody>
          <a:bodyPr/>
          <a:lstStyle/>
          <a:p>
            <a:fld id="{7A6F4692-A44E-48B1-B7FC-2B498D19FEDC}" type="slidenum">
              <a:rPr lang="en-IN" smtClean="0"/>
              <a:t>‹#›</a:t>
            </a:fld>
            <a:endParaRPr lang="en-IN"/>
          </a:p>
        </p:txBody>
      </p:sp>
    </p:spTree>
    <p:extLst>
      <p:ext uri="{BB962C8B-B14F-4D97-AF65-F5344CB8AC3E}">
        <p14:creationId xmlns:p14="http://schemas.microsoft.com/office/powerpoint/2010/main" val="1810569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ED899-FD33-470D-9ABA-BC031DF696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80F7DEC-D934-43E7-8F11-B13EA005EF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D9775B9-1219-46DE-8877-EC41F57DA2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AA82C48-F217-4FC2-A3A6-9EF961B7BA05}"/>
              </a:ext>
            </a:extLst>
          </p:cNvPr>
          <p:cNvSpPr>
            <a:spLocks noGrp="1"/>
          </p:cNvSpPr>
          <p:nvPr>
            <p:ph type="dt" sz="half" idx="10"/>
          </p:nvPr>
        </p:nvSpPr>
        <p:spPr/>
        <p:txBody>
          <a:bodyPr/>
          <a:lstStyle/>
          <a:p>
            <a:fld id="{3736CFA8-3CE8-497D-9ACC-4B247E533A34}" type="datetimeFigureOut">
              <a:rPr lang="en-IN" smtClean="0"/>
              <a:t>06-10-2024</a:t>
            </a:fld>
            <a:endParaRPr lang="en-IN"/>
          </a:p>
        </p:txBody>
      </p:sp>
      <p:sp>
        <p:nvSpPr>
          <p:cNvPr id="6" name="Footer Placeholder 5">
            <a:extLst>
              <a:ext uri="{FF2B5EF4-FFF2-40B4-BE49-F238E27FC236}">
                <a16:creationId xmlns:a16="http://schemas.microsoft.com/office/drawing/2014/main" id="{973FA135-2A00-43F3-A34F-7340D5C03B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362467-05AC-4065-828F-F4DE9FB6F534}"/>
              </a:ext>
            </a:extLst>
          </p:cNvPr>
          <p:cNvSpPr>
            <a:spLocks noGrp="1"/>
          </p:cNvSpPr>
          <p:nvPr>
            <p:ph type="sldNum" sz="quarter" idx="12"/>
          </p:nvPr>
        </p:nvSpPr>
        <p:spPr/>
        <p:txBody>
          <a:bodyPr/>
          <a:lstStyle/>
          <a:p>
            <a:fld id="{7A6F4692-A44E-48B1-B7FC-2B498D19FEDC}" type="slidenum">
              <a:rPr lang="en-IN" smtClean="0"/>
              <a:t>‹#›</a:t>
            </a:fld>
            <a:endParaRPr lang="en-IN"/>
          </a:p>
        </p:txBody>
      </p:sp>
    </p:spTree>
    <p:extLst>
      <p:ext uri="{BB962C8B-B14F-4D97-AF65-F5344CB8AC3E}">
        <p14:creationId xmlns:p14="http://schemas.microsoft.com/office/powerpoint/2010/main" val="566120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E23B4-9001-4232-BC03-FF3454C112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ECC4EE5-DE60-451B-9496-4471A19DCE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F4611DA-9122-4223-95E8-BACA8BF324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ED86BAF-FADD-44E0-8559-94A8643F839F}"/>
              </a:ext>
            </a:extLst>
          </p:cNvPr>
          <p:cNvSpPr>
            <a:spLocks noGrp="1"/>
          </p:cNvSpPr>
          <p:nvPr>
            <p:ph type="dt" sz="half" idx="10"/>
          </p:nvPr>
        </p:nvSpPr>
        <p:spPr/>
        <p:txBody>
          <a:bodyPr/>
          <a:lstStyle/>
          <a:p>
            <a:fld id="{3736CFA8-3CE8-497D-9ACC-4B247E533A34}" type="datetimeFigureOut">
              <a:rPr lang="en-IN" smtClean="0"/>
              <a:t>06-10-2024</a:t>
            </a:fld>
            <a:endParaRPr lang="en-IN"/>
          </a:p>
        </p:txBody>
      </p:sp>
      <p:sp>
        <p:nvSpPr>
          <p:cNvPr id="6" name="Footer Placeholder 5">
            <a:extLst>
              <a:ext uri="{FF2B5EF4-FFF2-40B4-BE49-F238E27FC236}">
                <a16:creationId xmlns:a16="http://schemas.microsoft.com/office/drawing/2014/main" id="{67ECB6BD-82DA-46AC-8322-87F36F0D10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7B3C8D-BB7A-45EE-935C-4EFA6D3E81A7}"/>
              </a:ext>
            </a:extLst>
          </p:cNvPr>
          <p:cNvSpPr>
            <a:spLocks noGrp="1"/>
          </p:cNvSpPr>
          <p:nvPr>
            <p:ph type="sldNum" sz="quarter" idx="12"/>
          </p:nvPr>
        </p:nvSpPr>
        <p:spPr/>
        <p:txBody>
          <a:bodyPr/>
          <a:lstStyle/>
          <a:p>
            <a:fld id="{7A6F4692-A44E-48B1-B7FC-2B498D19FEDC}" type="slidenum">
              <a:rPr lang="en-IN" smtClean="0"/>
              <a:t>‹#›</a:t>
            </a:fld>
            <a:endParaRPr lang="en-IN"/>
          </a:p>
        </p:txBody>
      </p:sp>
    </p:spTree>
    <p:extLst>
      <p:ext uri="{BB962C8B-B14F-4D97-AF65-F5344CB8AC3E}">
        <p14:creationId xmlns:p14="http://schemas.microsoft.com/office/powerpoint/2010/main" val="2836955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5BF30-4E91-4C5A-A8A5-326E6CAA33B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A147D9-9F21-4E85-BED6-7C43218269A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8F73FA-B67A-488C-8DAD-9C2AE26A48CE}"/>
              </a:ext>
            </a:extLst>
          </p:cNvPr>
          <p:cNvSpPr>
            <a:spLocks noGrp="1"/>
          </p:cNvSpPr>
          <p:nvPr>
            <p:ph type="dt" sz="half" idx="10"/>
          </p:nvPr>
        </p:nvSpPr>
        <p:spPr/>
        <p:txBody>
          <a:bodyPr/>
          <a:lstStyle/>
          <a:p>
            <a:fld id="{3736CFA8-3CE8-497D-9ACC-4B247E533A34}" type="datetimeFigureOut">
              <a:rPr lang="en-IN" smtClean="0"/>
              <a:t>06-10-2024</a:t>
            </a:fld>
            <a:endParaRPr lang="en-IN"/>
          </a:p>
        </p:txBody>
      </p:sp>
      <p:sp>
        <p:nvSpPr>
          <p:cNvPr id="5" name="Footer Placeholder 4">
            <a:extLst>
              <a:ext uri="{FF2B5EF4-FFF2-40B4-BE49-F238E27FC236}">
                <a16:creationId xmlns:a16="http://schemas.microsoft.com/office/drawing/2014/main" id="{D1EAE4D4-CD51-4E23-B3A0-3FA492DEA8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FF817F-49BF-4456-8B0B-DFC8EC850EC6}"/>
              </a:ext>
            </a:extLst>
          </p:cNvPr>
          <p:cNvSpPr>
            <a:spLocks noGrp="1"/>
          </p:cNvSpPr>
          <p:nvPr>
            <p:ph type="sldNum" sz="quarter" idx="12"/>
          </p:nvPr>
        </p:nvSpPr>
        <p:spPr/>
        <p:txBody>
          <a:bodyPr/>
          <a:lstStyle/>
          <a:p>
            <a:fld id="{7A6F4692-A44E-48B1-B7FC-2B498D19FEDC}" type="slidenum">
              <a:rPr lang="en-IN" smtClean="0"/>
              <a:t>‹#›</a:t>
            </a:fld>
            <a:endParaRPr lang="en-IN"/>
          </a:p>
        </p:txBody>
      </p:sp>
    </p:spTree>
    <p:extLst>
      <p:ext uri="{BB962C8B-B14F-4D97-AF65-F5344CB8AC3E}">
        <p14:creationId xmlns:p14="http://schemas.microsoft.com/office/powerpoint/2010/main" val="2594502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DB132B-7834-4270-B3DC-65215E7159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14A14A7-CEEB-48C5-91C8-EA0956222D1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036E4F-767F-4A1D-8FCB-22BEE7F54EFE}"/>
              </a:ext>
            </a:extLst>
          </p:cNvPr>
          <p:cNvSpPr>
            <a:spLocks noGrp="1"/>
          </p:cNvSpPr>
          <p:nvPr>
            <p:ph type="dt" sz="half" idx="10"/>
          </p:nvPr>
        </p:nvSpPr>
        <p:spPr/>
        <p:txBody>
          <a:bodyPr/>
          <a:lstStyle/>
          <a:p>
            <a:fld id="{3736CFA8-3CE8-497D-9ACC-4B247E533A34}" type="datetimeFigureOut">
              <a:rPr lang="en-IN" smtClean="0"/>
              <a:t>06-10-2024</a:t>
            </a:fld>
            <a:endParaRPr lang="en-IN"/>
          </a:p>
        </p:txBody>
      </p:sp>
      <p:sp>
        <p:nvSpPr>
          <p:cNvPr id="5" name="Footer Placeholder 4">
            <a:extLst>
              <a:ext uri="{FF2B5EF4-FFF2-40B4-BE49-F238E27FC236}">
                <a16:creationId xmlns:a16="http://schemas.microsoft.com/office/drawing/2014/main" id="{A432A2CF-41CF-4890-8F8F-5319FB60E5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2B9D51-7D7D-4E68-806E-9967A1A45113}"/>
              </a:ext>
            </a:extLst>
          </p:cNvPr>
          <p:cNvSpPr>
            <a:spLocks noGrp="1"/>
          </p:cNvSpPr>
          <p:nvPr>
            <p:ph type="sldNum" sz="quarter" idx="12"/>
          </p:nvPr>
        </p:nvSpPr>
        <p:spPr/>
        <p:txBody>
          <a:bodyPr/>
          <a:lstStyle/>
          <a:p>
            <a:fld id="{7A6F4692-A44E-48B1-B7FC-2B498D19FEDC}" type="slidenum">
              <a:rPr lang="en-IN" smtClean="0"/>
              <a:t>‹#›</a:t>
            </a:fld>
            <a:endParaRPr lang="en-IN"/>
          </a:p>
        </p:txBody>
      </p:sp>
    </p:spTree>
    <p:extLst>
      <p:ext uri="{BB962C8B-B14F-4D97-AF65-F5344CB8AC3E}">
        <p14:creationId xmlns:p14="http://schemas.microsoft.com/office/powerpoint/2010/main" val="127173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EFAE29-0330-4BC6-9D37-5D16CE543F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5C1D75-0E96-49A4-98C1-3C4BD5803B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1EEEB9-2F00-4178-84E7-4621B5418D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36CFA8-3CE8-497D-9ACC-4B247E533A34}" type="datetimeFigureOut">
              <a:rPr lang="en-IN" smtClean="0"/>
              <a:t>06-10-2024</a:t>
            </a:fld>
            <a:endParaRPr lang="en-IN"/>
          </a:p>
        </p:txBody>
      </p:sp>
      <p:sp>
        <p:nvSpPr>
          <p:cNvPr id="5" name="Footer Placeholder 4">
            <a:extLst>
              <a:ext uri="{FF2B5EF4-FFF2-40B4-BE49-F238E27FC236}">
                <a16:creationId xmlns:a16="http://schemas.microsoft.com/office/drawing/2014/main" id="{E331E6E5-5027-4458-A7D4-396F4C37F5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9FE0B70-FFFC-43CA-A258-8FB92A49B1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6F4692-A44E-48B1-B7FC-2B498D19FEDC}" type="slidenum">
              <a:rPr lang="en-IN" smtClean="0"/>
              <a:t>‹#›</a:t>
            </a:fld>
            <a:endParaRPr lang="en-IN"/>
          </a:p>
        </p:txBody>
      </p:sp>
    </p:spTree>
    <p:extLst>
      <p:ext uri="{BB962C8B-B14F-4D97-AF65-F5344CB8AC3E}">
        <p14:creationId xmlns:p14="http://schemas.microsoft.com/office/powerpoint/2010/main" val="4769661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rawpixel.com/search/once" TargetMode="External"/><Relationship Id="rId2" Type="http://schemas.openxmlformats.org/officeDocument/2006/relationships/image" Target="../media/image1.1"/><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blog.roboflow.com/what-is-yolo-world/" TargetMode="External"/><Relationship Id="rId2" Type="http://schemas.openxmlformats.org/officeDocument/2006/relationships/hyperlink" Target="https://blog.roboflow.com/what-is-paddlepaddle/" TargetMode="External"/><Relationship Id="rId1" Type="http://schemas.openxmlformats.org/officeDocument/2006/relationships/slideLayout" Target="../slideLayouts/slideLayout2.xml"/><Relationship Id="rId4" Type="http://schemas.openxmlformats.org/officeDocument/2006/relationships/hyperlink" Target="https://blog.roboflow.com/what-is-zero-shot-object-detection/" TargetMode="External"/></Relationships>
</file>

<file path=ppt/slides/_rels/slide6.xml.rels><?xml version="1.0" encoding="UTF-8" standalone="yes"?>
<Relationships xmlns="http://schemas.openxmlformats.org/package/2006/relationships"><Relationship Id="rId2" Type="http://schemas.openxmlformats.org/officeDocument/2006/relationships/hyperlink" Target="https://blog.roboflow.com/roboflow-100/"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1EACA8-371B-4E29-9BB5-C92DE9C7E28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7315200"/>
          </a:xfrm>
          <a:prstGeom prst="rect">
            <a:avLst/>
          </a:prstGeom>
        </p:spPr>
      </p:pic>
      <p:sp>
        <p:nvSpPr>
          <p:cNvPr id="8" name="Rectangle 7">
            <a:extLst>
              <a:ext uri="{FF2B5EF4-FFF2-40B4-BE49-F238E27FC236}">
                <a16:creationId xmlns:a16="http://schemas.microsoft.com/office/drawing/2014/main" id="{FAD11F00-1560-4280-909B-8669D37ACF71}"/>
              </a:ext>
            </a:extLst>
          </p:cNvPr>
          <p:cNvSpPr/>
          <p:nvPr/>
        </p:nvSpPr>
        <p:spPr>
          <a:xfrm>
            <a:off x="3167268" y="269869"/>
            <a:ext cx="6096000" cy="1569660"/>
          </a:xfrm>
          <a:prstGeom prst="rect">
            <a:avLst/>
          </a:prstGeom>
        </p:spPr>
        <p:txBody>
          <a:bodyPr>
            <a:spAutoFit/>
          </a:bodyPr>
          <a:lstStyle/>
          <a:p>
            <a:pPr algn="ctr"/>
            <a:r>
              <a:rPr lang="en-IN" sz="4800" b="1" dirty="0"/>
              <a:t>You Only Look Once</a:t>
            </a:r>
          </a:p>
          <a:p>
            <a:pPr algn="ctr"/>
            <a:r>
              <a:rPr lang="en-IN" sz="4800" b="1" dirty="0"/>
              <a:t>VERSION 1-10</a:t>
            </a:r>
          </a:p>
        </p:txBody>
      </p:sp>
    </p:spTree>
    <p:extLst>
      <p:ext uri="{BB962C8B-B14F-4D97-AF65-F5344CB8AC3E}">
        <p14:creationId xmlns:p14="http://schemas.microsoft.com/office/powerpoint/2010/main" val="3311316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F9CB79F-7E06-4CE2-AEAE-8F817C40EE89}"/>
              </a:ext>
            </a:extLst>
          </p:cNvPr>
          <p:cNvSpPr/>
          <p:nvPr/>
        </p:nvSpPr>
        <p:spPr>
          <a:xfrm>
            <a:off x="185531" y="75590"/>
            <a:ext cx="11229008" cy="1200329"/>
          </a:xfrm>
          <a:prstGeom prst="rect">
            <a:avLst/>
          </a:prstGeom>
        </p:spPr>
        <p:txBody>
          <a:bodyPr wrap="square">
            <a:spAutoFit/>
          </a:bodyPr>
          <a:lstStyle/>
          <a:p>
            <a:r>
              <a:rPr lang="en-US" b="1" dirty="0"/>
              <a:t>YOLOv1</a:t>
            </a:r>
          </a:p>
          <a:p>
            <a:pPr>
              <a:buFont typeface="Arial" panose="020B0604020202020204" pitchFamily="34" charset="0"/>
              <a:buChar char="•"/>
            </a:pPr>
            <a:r>
              <a:rPr lang="en-US" b="1" dirty="0"/>
              <a:t>  Release Year: 2015</a:t>
            </a:r>
          </a:p>
          <a:p>
            <a:pPr>
              <a:buFont typeface="Arial" panose="020B0604020202020204" pitchFamily="34" charset="0"/>
              <a:buChar char="•"/>
            </a:pPr>
            <a:r>
              <a:rPr lang="en-US" b="1" dirty="0"/>
              <a:t>  Introduced real-time object detection.</a:t>
            </a:r>
          </a:p>
          <a:p>
            <a:pPr>
              <a:buFont typeface="Arial" panose="020B0604020202020204" pitchFamily="34" charset="0"/>
              <a:buChar char="•"/>
            </a:pPr>
            <a:r>
              <a:rPr lang="en-US" b="1" dirty="0"/>
              <a:t>  Single neural network predicts bounding boxes and class probabilities directly from full images.</a:t>
            </a:r>
          </a:p>
        </p:txBody>
      </p:sp>
      <p:sp>
        <p:nvSpPr>
          <p:cNvPr id="5" name="Rectangle 4">
            <a:extLst>
              <a:ext uri="{FF2B5EF4-FFF2-40B4-BE49-F238E27FC236}">
                <a16:creationId xmlns:a16="http://schemas.microsoft.com/office/drawing/2014/main" id="{87A9EF85-3614-4484-9659-41ED925C94B9}"/>
              </a:ext>
            </a:extLst>
          </p:cNvPr>
          <p:cNvSpPr/>
          <p:nvPr/>
        </p:nvSpPr>
        <p:spPr>
          <a:xfrm>
            <a:off x="185531" y="1743454"/>
            <a:ext cx="11345122" cy="1477328"/>
          </a:xfrm>
          <a:prstGeom prst="rect">
            <a:avLst/>
          </a:prstGeom>
        </p:spPr>
        <p:txBody>
          <a:bodyPr wrap="square">
            <a:spAutoFit/>
          </a:bodyPr>
          <a:lstStyle/>
          <a:p>
            <a:r>
              <a:rPr lang="en-US" b="1" i="0" dirty="0">
                <a:effectLst/>
                <a:latin typeface="Inter"/>
              </a:rPr>
              <a:t>YOLOv2 </a:t>
            </a:r>
          </a:p>
          <a:p>
            <a:pPr marL="285750" indent="-285750">
              <a:buFont typeface="Arial" panose="020B0604020202020204" pitchFamily="34" charset="0"/>
              <a:buChar char="•"/>
            </a:pPr>
            <a:r>
              <a:rPr lang="en-US" b="1" dirty="0">
                <a:latin typeface="Inter"/>
              </a:rPr>
              <a:t>YOLOv2 </a:t>
            </a:r>
            <a:r>
              <a:rPr lang="en-US" b="1" i="0" dirty="0">
                <a:effectLst/>
                <a:latin typeface="Inter"/>
              </a:rPr>
              <a:t>was released in 2017</a:t>
            </a:r>
            <a:endParaRPr lang="en-US" b="1" dirty="0">
              <a:latin typeface="Inter"/>
            </a:endParaRPr>
          </a:p>
          <a:p>
            <a:pPr marL="285750" indent="-285750">
              <a:buFont typeface="Arial" panose="020B0604020202020204" pitchFamily="34" charset="0"/>
              <a:buChar char="•"/>
            </a:pPr>
            <a:r>
              <a:rPr lang="en-US" b="1" i="0" dirty="0">
                <a:effectLst/>
                <a:latin typeface="Inter"/>
              </a:rPr>
              <a:t>The architecture made a number of iterative improvements on top of YOLO including Batch Norm, higher resolution, anchor boxes and improved accuracy and speed.</a:t>
            </a:r>
          </a:p>
          <a:p>
            <a:pPr marL="285750" indent="-285750">
              <a:buFont typeface="Arial" panose="020B0604020202020204" pitchFamily="34" charset="0"/>
              <a:buChar char="•"/>
            </a:pPr>
            <a:r>
              <a:rPr lang="en-US" b="1" dirty="0"/>
              <a:t>It allowed for detection of over 9,000 object categories.</a:t>
            </a:r>
            <a:endParaRPr lang="en-IN" b="1" dirty="0"/>
          </a:p>
        </p:txBody>
      </p:sp>
      <p:sp>
        <p:nvSpPr>
          <p:cNvPr id="6" name="Rectangle 5">
            <a:extLst>
              <a:ext uri="{FF2B5EF4-FFF2-40B4-BE49-F238E27FC236}">
                <a16:creationId xmlns:a16="http://schemas.microsoft.com/office/drawing/2014/main" id="{4344A4AC-54C0-4967-BCD6-F63F1E53D3E1}"/>
              </a:ext>
            </a:extLst>
          </p:cNvPr>
          <p:cNvSpPr/>
          <p:nvPr/>
        </p:nvSpPr>
        <p:spPr>
          <a:xfrm>
            <a:off x="185532" y="3637219"/>
            <a:ext cx="11345121" cy="1200329"/>
          </a:xfrm>
          <a:prstGeom prst="rect">
            <a:avLst/>
          </a:prstGeom>
        </p:spPr>
        <p:txBody>
          <a:bodyPr wrap="square">
            <a:spAutoFit/>
          </a:bodyPr>
          <a:lstStyle/>
          <a:p>
            <a:r>
              <a:rPr lang="en-US" b="1" i="0" dirty="0">
                <a:effectLst/>
                <a:latin typeface="Inter"/>
              </a:rPr>
              <a:t>YOLOv3</a:t>
            </a:r>
          </a:p>
          <a:p>
            <a:pPr marL="285750" indent="-285750">
              <a:buFont typeface="Arial" panose="020B0604020202020204" pitchFamily="34" charset="0"/>
              <a:buChar char="•"/>
            </a:pPr>
            <a:r>
              <a:rPr lang="en-US" b="1" dirty="0">
                <a:latin typeface="Inter"/>
              </a:rPr>
              <a:t>YOLOv3</a:t>
            </a:r>
            <a:r>
              <a:rPr lang="en-US" dirty="0">
                <a:solidFill>
                  <a:srgbClr val="374151"/>
                </a:solidFill>
                <a:latin typeface="Inter"/>
              </a:rPr>
              <a:t> </a:t>
            </a:r>
            <a:r>
              <a:rPr lang="en-US" b="1" i="0" dirty="0">
                <a:effectLst/>
                <a:latin typeface="Inter"/>
              </a:rPr>
              <a:t> was released in 2018.</a:t>
            </a:r>
          </a:p>
          <a:p>
            <a:pPr marL="285750" indent="-285750">
              <a:buFont typeface="Arial" panose="020B0604020202020204" pitchFamily="34" charset="0"/>
              <a:buChar char="•"/>
            </a:pPr>
            <a:r>
              <a:rPr lang="en-US" b="1" i="0" dirty="0">
                <a:effectLst/>
                <a:latin typeface="Inter"/>
              </a:rPr>
              <a:t>YOLOv3 built upon previous models by adding an </a:t>
            </a:r>
            <a:r>
              <a:rPr lang="en-US" b="1" i="0" dirty="0" err="1">
                <a:effectLst/>
                <a:latin typeface="Inter"/>
              </a:rPr>
              <a:t>objectness</a:t>
            </a:r>
            <a:r>
              <a:rPr lang="en-US" b="1" i="0" dirty="0">
                <a:effectLst/>
                <a:latin typeface="Inter"/>
              </a:rPr>
              <a:t> score to bounding box prediction</a:t>
            </a:r>
          </a:p>
          <a:p>
            <a:pPr marL="285750" indent="-285750">
              <a:buFont typeface="Arial" panose="020B0604020202020204" pitchFamily="34" charset="0"/>
              <a:buChar char="•"/>
            </a:pPr>
            <a:r>
              <a:rPr lang="en-US" b="1" dirty="0">
                <a:latin typeface="Inter"/>
              </a:rPr>
              <a:t>It also improved feature extraction with a new backbone network called Darknet-53.</a:t>
            </a:r>
            <a:endParaRPr lang="en-US" b="1" i="0" dirty="0">
              <a:effectLst/>
              <a:latin typeface="Inter"/>
            </a:endParaRPr>
          </a:p>
        </p:txBody>
      </p:sp>
      <p:sp>
        <p:nvSpPr>
          <p:cNvPr id="2" name="Rectangle 1">
            <a:extLst>
              <a:ext uri="{FF2B5EF4-FFF2-40B4-BE49-F238E27FC236}">
                <a16:creationId xmlns:a16="http://schemas.microsoft.com/office/drawing/2014/main" id="{E49C1403-2A5D-4F07-B9EB-56148BDC0DC9}"/>
              </a:ext>
            </a:extLst>
          </p:cNvPr>
          <p:cNvSpPr/>
          <p:nvPr/>
        </p:nvSpPr>
        <p:spPr>
          <a:xfrm>
            <a:off x="185531" y="5174976"/>
            <a:ext cx="11229007" cy="1477328"/>
          </a:xfrm>
          <a:prstGeom prst="rect">
            <a:avLst/>
          </a:prstGeom>
        </p:spPr>
        <p:txBody>
          <a:bodyPr wrap="square">
            <a:spAutoFit/>
          </a:bodyPr>
          <a:lstStyle/>
          <a:p>
            <a:r>
              <a:rPr lang="en-US" b="1" dirty="0">
                <a:latin typeface="Inter"/>
              </a:rPr>
              <a:t>YOLOv4</a:t>
            </a:r>
          </a:p>
          <a:p>
            <a:pPr marL="285750" indent="-285750">
              <a:buFont typeface="Arial" panose="020B0604020202020204" pitchFamily="34" charset="0"/>
              <a:buChar char="•"/>
            </a:pPr>
            <a:r>
              <a:rPr lang="en-US" b="1" dirty="0">
                <a:latin typeface="Inter"/>
              </a:rPr>
              <a:t>YOLOv4  was released April 2020 </a:t>
            </a:r>
          </a:p>
          <a:p>
            <a:pPr marL="285750" indent="-285750">
              <a:buFont typeface="Arial" panose="020B0604020202020204" pitchFamily="34" charset="0"/>
              <a:buChar char="•"/>
            </a:pPr>
            <a:r>
              <a:rPr lang="en-US" b="1" dirty="0">
                <a:latin typeface="Inter"/>
              </a:rPr>
              <a:t>YOLOv4 introduced improvements like improved feature aggregation, a "bag of freebies", mish activation</a:t>
            </a:r>
          </a:p>
          <a:p>
            <a:pPr marL="285750" indent="-285750">
              <a:buFont typeface="Arial" panose="020B0604020202020204" pitchFamily="34" charset="0"/>
              <a:buChar char="•"/>
            </a:pPr>
            <a:r>
              <a:rPr lang="en-US" b="1" dirty="0"/>
              <a:t>This version introduced several optimizations for performance, such as </a:t>
            </a:r>
            <a:r>
              <a:rPr lang="en-US" b="1" dirty="0" err="1"/>
              <a:t>CSPNet</a:t>
            </a:r>
            <a:r>
              <a:rPr lang="en-US" b="1" dirty="0"/>
              <a:t> and a focus on real-time detection on a variety of hardware</a:t>
            </a:r>
            <a:endParaRPr lang="en-IN" b="1" dirty="0"/>
          </a:p>
        </p:txBody>
      </p:sp>
    </p:spTree>
    <p:extLst>
      <p:ext uri="{BB962C8B-B14F-4D97-AF65-F5344CB8AC3E}">
        <p14:creationId xmlns:p14="http://schemas.microsoft.com/office/powerpoint/2010/main" val="4193605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381460F-24B3-4C81-B75C-D63F6CA4FFA8}"/>
              </a:ext>
            </a:extLst>
          </p:cNvPr>
          <p:cNvSpPr/>
          <p:nvPr/>
        </p:nvSpPr>
        <p:spPr>
          <a:xfrm>
            <a:off x="200675" y="165608"/>
            <a:ext cx="11357113" cy="1477328"/>
          </a:xfrm>
          <a:prstGeom prst="rect">
            <a:avLst/>
          </a:prstGeom>
        </p:spPr>
        <p:txBody>
          <a:bodyPr wrap="square">
            <a:spAutoFit/>
          </a:bodyPr>
          <a:lstStyle/>
          <a:p>
            <a:r>
              <a:rPr lang="en-US" b="1" dirty="0"/>
              <a:t>YOLOv5</a:t>
            </a:r>
          </a:p>
          <a:p>
            <a:pPr marL="285750" indent="-285750">
              <a:buFont typeface="Arial" panose="020B0604020202020204" pitchFamily="34" charset="0"/>
              <a:buChar char="•"/>
            </a:pPr>
            <a:r>
              <a:rPr lang="en-US" b="1" dirty="0"/>
              <a:t>YOLOv5 only requires the installation of torch and some lightweight python libraries.</a:t>
            </a:r>
          </a:p>
          <a:p>
            <a:pPr marL="285750" indent="-285750">
              <a:buFont typeface="Arial" panose="020B0604020202020204" pitchFamily="34" charset="0"/>
              <a:buChar char="•"/>
            </a:pPr>
            <a:r>
              <a:rPr lang="en-US" b="1" dirty="0"/>
              <a:t> You can infer with YOLOv5 on individual images, batch images, video feeds, or webcam ports and easily translate YOLOv5 from </a:t>
            </a:r>
            <a:r>
              <a:rPr lang="en-US" b="1" dirty="0" err="1"/>
              <a:t>PyTorch</a:t>
            </a:r>
            <a:r>
              <a:rPr lang="en-US" b="1" dirty="0"/>
              <a:t> weights to ONXX weights to </a:t>
            </a:r>
            <a:r>
              <a:rPr lang="en-US" b="1" dirty="0" err="1"/>
              <a:t>CoreML</a:t>
            </a:r>
            <a:r>
              <a:rPr lang="en-US" b="1" dirty="0"/>
              <a:t> to iOS.</a:t>
            </a:r>
          </a:p>
          <a:p>
            <a:pPr marL="285750" indent="-285750">
              <a:buFont typeface="Arial" panose="020B0604020202020204" pitchFamily="34" charset="0"/>
              <a:buChar char="•"/>
            </a:pPr>
            <a:r>
              <a:rPr lang="en-US" b="1" dirty="0"/>
              <a:t>It featured improvements in training speed and model sizes (small, medium, large).</a:t>
            </a:r>
            <a:endParaRPr lang="en-IN" b="1" dirty="0"/>
          </a:p>
        </p:txBody>
      </p:sp>
      <p:sp>
        <p:nvSpPr>
          <p:cNvPr id="2" name="Rectangle 1">
            <a:extLst>
              <a:ext uri="{FF2B5EF4-FFF2-40B4-BE49-F238E27FC236}">
                <a16:creationId xmlns:a16="http://schemas.microsoft.com/office/drawing/2014/main" id="{DCBA82E0-F461-49EA-B075-5E18E87E8E56}"/>
              </a:ext>
            </a:extLst>
          </p:cNvPr>
          <p:cNvSpPr/>
          <p:nvPr/>
        </p:nvSpPr>
        <p:spPr>
          <a:xfrm>
            <a:off x="200675" y="1942570"/>
            <a:ext cx="11168428" cy="1200329"/>
          </a:xfrm>
          <a:prstGeom prst="rect">
            <a:avLst/>
          </a:prstGeom>
        </p:spPr>
        <p:txBody>
          <a:bodyPr wrap="square">
            <a:spAutoFit/>
          </a:bodyPr>
          <a:lstStyle/>
          <a:p>
            <a:r>
              <a:rPr lang="en-US" b="1" dirty="0">
                <a:latin typeface="Inter"/>
              </a:rPr>
              <a:t>YOLOv6</a:t>
            </a:r>
          </a:p>
          <a:p>
            <a:pPr marL="285750" indent="-285750">
              <a:buFont typeface="Arial" panose="020B0604020202020204" pitchFamily="34" charset="0"/>
              <a:buChar char="•"/>
            </a:pPr>
            <a:r>
              <a:rPr lang="en-US" b="1" dirty="0">
                <a:latin typeface="Inter"/>
              </a:rPr>
              <a:t>In YOLOv6, the head is decoupled, meaning the network has additional layers separating these features from the final head, which has empirically been shown to increase performance. </a:t>
            </a:r>
          </a:p>
          <a:p>
            <a:pPr marL="285750" indent="-285750">
              <a:buFont typeface="Arial" panose="020B0604020202020204" pitchFamily="34" charset="0"/>
              <a:buChar char="•"/>
            </a:pPr>
            <a:r>
              <a:rPr lang="en-US" b="1" dirty="0">
                <a:latin typeface="Inter"/>
              </a:rPr>
              <a:t>YOLOv6 introduced improvements in training and inference speed, along with better handling of small objects.</a:t>
            </a:r>
          </a:p>
        </p:txBody>
      </p:sp>
      <p:sp>
        <p:nvSpPr>
          <p:cNvPr id="3" name="Rectangle 2">
            <a:extLst>
              <a:ext uri="{FF2B5EF4-FFF2-40B4-BE49-F238E27FC236}">
                <a16:creationId xmlns:a16="http://schemas.microsoft.com/office/drawing/2014/main" id="{67B9A3E7-428B-4424-B768-4BA06B85D382}"/>
              </a:ext>
            </a:extLst>
          </p:cNvPr>
          <p:cNvSpPr/>
          <p:nvPr/>
        </p:nvSpPr>
        <p:spPr>
          <a:xfrm>
            <a:off x="200674" y="3295256"/>
            <a:ext cx="11991325" cy="1754326"/>
          </a:xfrm>
          <a:prstGeom prst="rect">
            <a:avLst/>
          </a:prstGeom>
        </p:spPr>
        <p:txBody>
          <a:bodyPr wrap="square">
            <a:spAutoFit/>
          </a:bodyPr>
          <a:lstStyle/>
          <a:p>
            <a:r>
              <a:rPr lang="en-US" b="1" dirty="0">
                <a:latin typeface="Inter"/>
              </a:rPr>
              <a:t>YOLOv7</a:t>
            </a:r>
          </a:p>
          <a:p>
            <a:pPr marL="285750" indent="-285750">
              <a:buFont typeface="Arial" panose="020B0604020202020204" pitchFamily="34" charset="0"/>
              <a:buChar char="•"/>
            </a:pPr>
            <a:r>
              <a:rPr lang="en-US" b="1" dirty="0">
                <a:latin typeface="Inter"/>
              </a:rPr>
              <a:t>YOLOv7 was released in 2022.</a:t>
            </a:r>
          </a:p>
          <a:p>
            <a:pPr marL="285750" indent="-285750">
              <a:buFont typeface="Arial" panose="020B0604020202020204" pitchFamily="34" charset="0"/>
              <a:buChar char="•"/>
            </a:pPr>
            <a:r>
              <a:rPr lang="en-US" b="1" dirty="0">
                <a:latin typeface="Inter"/>
              </a:rPr>
              <a:t> The final layer aggregation they choose is E-ELAN an extend version of the ELAN computational block.</a:t>
            </a:r>
          </a:p>
          <a:p>
            <a:pPr marL="285750" indent="-285750">
              <a:buFont typeface="Arial" panose="020B0604020202020204" pitchFamily="34" charset="0"/>
              <a:buChar char="•"/>
            </a:pPr>
            <a:r>
              <a:rPr lang="en-US" b="1" dirty="0"/>
              <a:t>This version further refined the architecture for better speed and accuracy, incorporating features like a new backbone and a focus on real-time applications.</a:t>
            </a:r>
          </a:p>
          <a:p>
            <a:pPr marL="285750" indent="-285750">
              <a:buFont typeface="Arial" panose="020B0604020202020204" pitchFamily="34" charset="0"/>
              <a:buChar char="•"/>
            </a:pPr>
            <a:endParaRPr lang="en-IN" b="1" dirty="0"/>
          </a:p>
        </p:txBody>
      </p:sp>
      <p:sp>
        <p:nvSpPr>
          <p:cNvPr id="6" name="Rectangle 5">
            <a:extLst>
              <a:ext uri="{FF2B5EF4-FFF2-40B4-BE49-F238E27FC236}">
                <a16:creationId xmlns:a16="http://schemas.microsoft.com/office/drawing/2014/main" id="{1E21270A-7540-45D8-92A3-3FC340243096}"/>
              </a:ext>
            </a:extLst>
          </p:cNvPr>
          <p:cNvSpPr/>
          <p:nvPr/>
        </p:nvSpPr>
        <p:spPr>
          <a:xfrm>
            <a:off x="100336" y="4795219"/>
            <a:ext cx="11991324" cy="2031325"/>
          </a:xfrm>
          <a:prstGeom prst="rect">
            <a:avLst/>
          </a:prstGeom>
        </p:spPr>
        <p:txBody>
          <a:bodyPr wrap="square">
            <a:spAutoFit/>
          </a:bodyPr>
          <a:lstStyle/>
          <a:p>
            <a:r>
              <a:rPr lang="en-US" b="1" dirty="0"/>
              <a:t>YOLOv8 </a:t>
            </a:r>
          </a:p>
          <a:p>
            <a:pPr marL="285750" indent="-285750">
              <a:buFont typeface="Arial" panose="020B0604020202020204" pitchFamily="34" charset="0"/>
              <a:buChar char="•"/>
            </a:pPr>
            <a:r>
              <a:rPr lang="en-US" b="1" dirty="0"/>
              <a:t>YOLOv8 was released in 2023.</a:t>
            </a:r>
          </a:p>
          <a:p>
            <a:pPr marL="285750" indent="-285750">
              <a:buFont typeface="Arial" panose="020B0604020202020204" pitchFamily="34" charset="0"/>
              <a:buChar char="•"/>
            </a:pPr>
            <a:r>
              <a:rPr lang="en-US" b="1" dirty="0"/>
              <a:t>YOLOv8 includes numerous architectural and developer ex The latest version brought additional improvements in performance, flexibility, and ease of integration.</a:t>
            </a:r>
          </a:p>
          <a:p>
            <a:pPr marL="285750" indent="-285750">
              <a:buFont typeface="Arial" panose="020B0604020202020204" pitchFamily="34" charset="0"/>
              <a:buChar char="•"/>
            </a:pPr>
            <a:r>
              <a:rPr lang="en-US" b="1" dirty="0"/>
              <a:t> It emphasizes modular design and has been optimized for various deployment scenarios. </a:t>
            </a:r>
            <a:r>
              <a:rPr lang="en-US" b="1" dirty="0" err="1"/>
              <a:t>perience</a:t>
            </a:r>
            <a:r>
              <a:rPr lang="en-US" b="1" dirty="0"/>
              <a:t> changes and improvements over YOLOv5. </a:t>
            </a:r>
          </a:p>
          <a:p>
            <a:pPr marL="285750" indent="-285750">
              <a:buFont typeface="Arial" panose="020B0604020202020204" pitchFamily="34" charset="0"/>
              <a:buChar char="•"/>
            </a:pPr>
            <a:endParaRPr lang="en-IN" b="1" dirty="0"/>
          </a:p>
        </p:txBody>
      </p:sp>
    </p:spTree>
    <p:extLst>
      <p:ext uri="{BB962C8B-B14F-4D97-AF65-F5344CB8AC3E}">
        <p14:creationId xmlns:p14="http://schemas.microsoft.com/office/powerpoint/2010/main" val="3466004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112A158-E791-4B91-BBBA-F899851F3E7A}"/>
              </a:ext>
            </a:extLst>
          </p:cNvPr>
          <p:cNvSpPr/>
          <p:nvPr/>
        </p:nvSpPr>
        <p:spPr>
          <a:xfrm>
            <a:off x="174171" y="133963"/>
            <a:ext cx="11843657" cy="2031325"/>
          </a:xfrm>
          <a:prstGeom prst="rect">
            <a:avLst/>
          </a:prstGeom>
        </p:spPr>
        <p:txBody>
          <a:bodyPr wrap="square">
            <a:spAutoFit/>
          </a:bodyPr>
          <a:lstStyle/>
          <a:p>
            <a:r>
              <a:rPr lang="en-US" b="1" dirty="0">
                <a:latin typeface="Inter"/>
              </a:rPr>
              <a:t>YOLOv9  </a:t>
            </a:r>
          </a:p>
          <a:p>
            <a:pPr marL="285750" indent="-285750">
              <a:buFont typeface="Arial" panose="020B0604020202020204" pitchFamily="34" charset="0"/>
              <a:buChar char="•"/>
            </a:pPr>
            <a:r>
              <a:rPr lang="en-US" b="1" dirty="0">
                <a:latin typeface="Inter"/>
              </a:rPr>
              <a:t>Enhanced Transformer Integration</a:t>
            </a:r>
          </a:p>
          <a:p>
            <a:pPr marL="285750" indent="-285750">
              <a:buFont typeface="Arial" panose="020B0604020202020204" pitchFamily="34" charset="0"/>
              <a:buChar char="•"/>
            </a:pPr>
            <a:r>
              <a:rPr lang="en-US" b="1" dirty="0">
                <a:latin typeface="Inter"/>
              </a:rPr>
              <a:t>Multi-Task Learning</a:t>
            </a:r>
          </a:p>
          <a:p>
            <a:pPr marL="285750" indent="-285750">
              <a:buFont typeface="Arial" panose="020B0604020202020204" pitchFamily="34" charset="0"/>
              <a:buChar char="•"/>
            </a:pPr>
            <a:r>
              <a:rPr lang="en-US" b="1" dirty="0">
                <a:latin typeface="Inter"/>
              </a:rPr>
              <a:t>Improved Small Object Detection</a:t>
            </a:r>
          </a:p>
          <a:p>
            <a:pPr marL="285750" indent="-285750">
              <a:buFont typeface="Arial" panose="020B0604020202020204" pitchFamily="34" charset="0"/>
              <a:buChar char="•"/>
            </a:pPr>
            <a:r>
              <a:rPr lang="en-US" b="1" dirty="0">
                <a:latin typeface="Inter"/>
              </a:rPr>
              <a:t>YOLOv9 achieves a higher </a:t>
            </a:r>
            <a:r>
              <a:rPr lang="en-US" b="1" dirty="0" err="1">
                <a:latin typeface="Inter"/>
              </a:rPr>
              <a:t>mAP</a:t>
            </a:r>
            <a:r>
              <a:rPr lang="en-US" b="1" dirty="0">
                <a:latin typeface="Inter"/>
              </a:rPr>
              <a:t> than existing popular YOLO models such as YOLOv8, YOLOv7, and YOLOv5, when benchmarked against the MS COCO dataset.</a:t>
            </a:r>
          </a:p>
          <a:p>
            <a:endParaRPr lang="en-IN" dirty="0"/>
          </a:p>
        </p:txBody>
      </p:sp>
      <p:sp>
        <p:nvSpPr>
          <p:cNvPr id="2" name="Rectangle 1">
            <a:extLst>
              <a:ext uri="{FF2B5EF4-FFF2-40B4-BE49-F238E27FC236}">
                <a16:creationId xmlns:a16="http://schemas.microsoft.com/office/drawing/2014/main" id="{F71A8D54-2128-4CF8-A7C4-6DEA2C18825A}"/>
              </a:ext>
            </a:extLst>
          </p:cNvPr>
          <p:cNvSpPr/>
          <p:nvPr/>
        </p:nvSpPr>
        <p:spPr>
          <a:xfrm>
            <a:off x="174170" y="2165288"/>
            <a:ext cx="11686525" cy="2585323"/>
          </a:xfrm>
          <a:prstGeom prst="rect">
            <a:avLst/>
          </a:prstGeom>
        </p:spPr>
        <p:txBody>
          <a:bodyPr wrap="square">
            <a:spAutoFit/>
          </a:bodyPr>
          <a:lstStyle/>
          <a:p>
            <a:r>
              <a:rPr lang="en-US" b="1" dirty="0">
                <a:latin typeface="Inter"/>
              </a:rPr>
              <a:t> YOLOv10</a:t>
            </a:r>
          </a:p>
          <a:p>
            <a:pPr marL="285750" indent="-285750">
              <a:buFont typeface="Arial" panose="020B0604020202020204" pitchFamily="34" charset="0"/>
              <a:buChar char="•"/>
            </a:pPr>
            <a:r>
              <a:rPr lang="en-US" b="1" dirty="0">
                <a:latin typeface="Inter"/>
              </a:rPr>
              <a:t>YOLOv10 was released on May 23, 2024</a:t>
            </a:r>
          </a:p>
          <a:p>
            <a:pPr marL="285750" indent="-285750">
              <a:buFont typeface="Arial" panose="020B0604020202020204" pitchFamily="34" charset="0"/>
              <a:buChar char="•"/>
            </a:pPr>
            <a:r>
              <a:rPr lang="en-US" b="1" dirty="0">
                <a:latin typeface="Inter"/>
              </a:rPr>
              <a:t>YOLOv10 is a real-time object detection model developed by researchers from Tsinghua University. YOLOv10 represents the state of the art in object detection, achieving lower latency than previous YOLO models with fewer parameters.</a:t>
            </a:r>
          </a:p>
          <a:p>
            <a:pPr marL="285750" indent="-285750">
              <a:buFont typeface="Arial" panose="020B0604020202020204" pitchFamily="34" charset="0"/>
              <a:buChar char="•"/>
            </a:pPr>
            <a:r>
              <a:rPr lang="en-US" b="1" dirty="0">
                <a:latin typeface="Inter"/>
              </a:rPr>
              <a:t>Cross-Domain Adaptation</a:t>
            </a:r>
          </a:p>
          <a:p>
            <a:pPr marL="285750" indent="-285750">
              <a:buFont typeface="Arial" panose="020B0604020202020204" pitchFamily="34" charset="0"/>
              <a:buChar char="•"/>
            </a:pPr>
            <a:r>
              <a:rPr lang="en-US" b="1" dirty="0">
                <a:latin typeface="Inter"/>
              </a:rPr>
              <a:t>Robustness to Adversarial Attacks</a:t>
            </a:r>
          </a:p>
          <a:p>
            <a:pPr marL="285750" indent="-285750">
              <a:buFont typeface="Arial" panose="020B0604020202020204" pitchFamily="34" charset="0"/>
              <a:buChar char="•"/>
            </a:pPr>
            <a:r>
              <a:rPr lang="en-US" b="1" dirty="0">
                <a:latin typeface="Inter"/>
              </a:rPr>
              <a:t>Greater Customization</a:t>
            </a:r>
          </a:p>
          <a:p>
            <a:pPr marL="285750" indent="-285750">
              <a:buFont typeface="Arial" panose="020B0604020202020204" pitchFamily="34" charset="0"/>
              <a:buChar char="•"/>
            </a:pPr>
            <a:r>
              <a:rPr lang="en-US" b="1" dirty="0">
                <a:latin typeface="Inter"/>
              </a:rPr>
              <a:t>Integration with Other Modalities</a:t>
            </a:r>
          </a:p>
        </p:txBody>
      </p:sp>
    </p:spTree>
    <p:extLst>
      <p:ext uri="{BB962C8B-B14F-4D97-AF65-F5344CB8AC3E}">
        <p14:creationId xmlns:p14="http://schemas.microsoft.com/office/powerpoint/2010/main" val="1839175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5F38AF8-D9FC-4091-9580-F1B7C21565B1}"/>
              </a:ext>
            </a:extLst>
          </p:cNvPr>
          <p:cNvSpPr/>
          <p:nvPr/>
        </p:nvSpPr>
        <p:spPr>
          <a:xfrm>
            <a:off x="101599" y="490922"/>
            <a:ext cx="11800114" cy="1200329"/>
          </a:xfrm>
          <a:prstGeom prst="rect">
            <a:avLst/>
          </a:prstGeom>
        </p:spPr>
        <p:txBody>
          <a:bodyPr wrap="square">
            <a:spAutoFit/>
          </a:bodyPr>
          <a:lstStyle/>
          <a:p>
            <a:r>
              <a:rPr lang="en-IN" dirty="0">
                <a:latin typeface="Inter"/>
              </a:rPr>
              <a:t>PP-YOLO, released in August 2020 by Baidu, surpasses YOLOv4's performance metrics on the COCO dataset. The "PP" stands for "</a:t>
            </a:r>
            <a:r>
              <a:rPr lang="en-IN" dirty="0" err="1">
                <a:latin typeface="Inter"/>
                <a:hlinkClick r:id="rId2">
                  <a:extLst>
                    <a:ext uri="{A12FA001-AC4F-418D-AE19-62706E023703}">
                      <ahyp:hlinkClr xmlns:ahyp="http://schemas.microsoft.com/office/drawing/2018/hyperlinkcolor" val="tx"/>
                    </a:ext>
                  </a:extLst>
                </a:hlinkClick>
              </a:rPr>
              <a:t>PaddlePaddle</a:t>
            </a:r>
            <a:r>
              <a:rPr lang="en-IN" dirty="0">
                <a:latin typeface="Inter"/>
              </a:rPr>
              <a:t>," Baidu's neural network framework (akin to Google's TensorFlow). PP-YOLO notes improved performance through taking advantage of a replaced improvements like a model backbone, </a:t>
            </a:r>
            <a:r>
              <a:rPr lang="en-IN" dirty="0" err="1">
                <a:latin typeface="Inter"/>
              </a:rPr>
              <a:t>DropBlock</a:t>
            </a:r>
            <a:r>
              <a:rPr lang="en-IN" dirty="0">
                <a:latin typeface="Inter"/>
              </a:rPr>
              <a:t> regularization, Matrix NMS, and more. </a:t>
            </a:r>
            <a:endParaRPr lang="en-IN" dirty="0"/>
          </a:p>
        </p:txBody>
      </p:sp>
      <p:sp>
        <p:nvSpPr>
          <p:cNvPr id="7" name="Rectangle 6">
            <a:extLst>
              <a:ext uri="{FF2B5EF4-FFF2-40B4-BE49-F238E27FC236}">
                <a16:creationId xmlns:a16="http://schemas.microsoft.com/office/drawing/2014/main" id="{23BBD266-275E-40A1-8B76-94E1FA534F51}"/>
              </a:ext>
            </a:extLst>
          </p:cNvPr>
          <p:cNvSpPr/>
          <p:nvPr/>
        </p:nvSpPr>
        <p:spPr>
          <a:xfrm>
            <a:off x="-58058" y="3253852"/>
            <a:ext cx="11916229" cy="923330"/>
          </a:xfrm>
          <a:prstGeom prst="rect">
            <a:avLst/>
          </a:prstGeom>
        </p:spPr>
        <p:txBody>
          <a:bodyPr wrap="square">
            <a:spAutoFit/>
          </a:bodyPr>
          <a:lstStyle/>
          <a:p>
            <a:r>
              <a:rPr lang="en-US" dirty="0">
                <a:latin typeface="Inter"/>
              </a:rPr>
              <a:t>Scaled YOLOv4 came out in November 2020 by </a:t>
            </a:r>
            <a:r>
              <a:rPr lang="en-US" dirty="0" err="1">
                <a:latin typeface="Inter"/>
              </a:rPr>
              <a:t>Chien</a:t>
            </a:r>
            <a:r>
              <a:rPr lang="en-US" dirty="0">
                <a:latin typeface="Inter"/>
              </a:rPr>
              <a:t>-Yao Wang, Alexey </a:t>
            </a:r>
            <a:r>
              <a:rPr lang="en-US" dirty="0" err="1">
                <a:latin typeface="Inter"/>
              </a:rPr>
              <a:t>Bochkovskiy</a:t>
            </a:r>
            <a:r>
              <a:rPr lang="en-US" dirty="0">
                <a:latin typeface="Inter"/>
              </a:rPr>
              <a:t>, and Hong-Yuan Mark Liao. The model takes advantage of Cross Stage Partial networks to scale up the size of the network while maintaining both accuracy and speed of YOLOv4. Notably, Scaled YOLOv4 takes advantage of the training framework released in YOLOv5.</a:t>
            </a:r>
            <a:endParaRPr lang="en-IN" dirty="0"/>
          </a:p>
        </p:txBody>
      </p:sp>
      <p:sp>
        <p:nvSpPr>
          <p:cNvPr id="8" name="Rectangle 7">
            <a:extLst>
              <a:ext uri="{FF2B5EF4-FFF2-40B4-BE49-F238E27FC236}">
                <a16:creationId xmlns:a16="http://schemas.microsoft.com/office/drawing/2014/main" id="{77038BF7-6BB2-468B-A671-B0B2A1C25BDB}"/>
              </a:ext>
            </a:extLst>
          </p:cNvPr>
          <p:cNvSpPr/>
          <p:nvPr/>
        </p:nvSpPr>
        <p:spPr>
          <a:xfrm>
            <a:off x="0" y="1962181"/>
            <a:ext cx="11800114" cy="923330"/>
          </a:xfrm>
          <a:prstGeom prst="rect">
            <a:avLst/>
          </a:prstGeom>
        </p:spPr>
        <p:txBody>
          <a:bodyPr wrap="square">
            <a:spAutoFit/>
          </a:bodyPr>
          <a:lstStyle/>
          <a:p>
            <a:r>
              <a:rPr lang="en-US" dirty="0">
                <a:latin typeface="Inter"/>
              </a:rPr>
              <a:t>PP-YOLOv2, again authored by the Baidu team, was released in April 2021. PP-YOLOv2 made minor tweaks to PP-YOLO to achieve improved performance, including adding the mish activation function and Path Aggregation Network (sensing a trend in improvements flowing from one network to the next?).</a:t>
            </a:r>
            <a:endParaRPr lang="en-IN" dirty="0"/>
          </a:p>
        </p:txBody>
      </p:sp>
      <p:sp>
        <p:nvSpPr>
          <p:cNvPr id="2" name="Rectangle 1">
            <a:extLst>
              <a:ext uri="{FF2B5EF4-FFF2-40B4-BE49-F238E27FC236}">
                <a16:creationId xmlns:a16="http://schemas.microsoft.com/office/drawing/2014/main" id="{B677BFE6-67AC-4AA1-9934-8AFD89622519}"/>
              </a:ext>
            </a:extLst>
          </p:cNvPr>
          <p:cNvSpPr/>
          <p:nvPr/>
        </p:nvSpPr>
        <p:spPr>
          <a:xfrm>
            <a:off x="0" y="4257554"/>
            <a:ext cx="12192000" cy="1754326"/>
          </a:xfrm>
          <a:prstGeom prst="rect">
            <a:avLst/>
          </a:prstGeom>
        </p:spPr>
        <p:txBody>
          <a:bodyPr wrap="square">
            <a:spAutoFit/>
          </a:bodyPr>
          <a:lstStyle/>
          <a:p>
            <a:r>
              <a:rPr lang="en-US" u="sng" dirty="0">
                <a:latin typeface="Inter"/>
                <a:hlinkClick r:id="rId3">
                  <a:extLst>
                    <a:ext uri="{A12FA001-AC4F-418D-AE19-62706E023703}">
                      <ahyp:hlinkClr xmlns:ahyp="http://schemas.microsoft.com/office/drawing/2018/hyperlinkcolor" val="tx"/>
                    </a:ext>
                  </a:extLst>
                </a:hlinkClick>
              </a:rPr>
              <a:t>YOLO-World</a:t>
            </a:r>
            <a:r>
              <a:rPr lang="en-US" dirty="0">
                <a:latin typeface="Inter"/>
              </a:rPr>
              <a:t> is a real-time, zero-shot object detection model developed by Tencent’s AI Lab. Because YOLO-World is a </a:t>
            </a:r>
            <a:r>
              <a:rPr lang="en-US" u="sng" dirty="0">
                <a:latin typeface="Inter"/>
                <a:hlinkClick r:id="rId4">
                  <a:extLst>
                    <a:ext uri="{A12FA001-AC4F-418D-AE19-62706E023703}">
                      <ahyp:hlinkClr xmlns:ahyp="http://schemas.microsoft.com/office/drawing/2018/hyperlinkcolor" val="tx"/>
                    </a:ext>
                  </a:extLst>
                </a:hlinkClick>
              </a:rPr>
              <a:t>zero-shot model</a:t>
            </a:r>
            <a:r>
              <a:rPr lang="en-US" dirty="0">
                <a:latin typeface="Inter"/>
              </a:rPr>
              <a:t>, you can provide text prompts to the model to identify objects of interest in an image without training or fine-tuning a model.</a:t>
            </a:r>
          </a:p>
          <a:p>
            <a:r>
              <a:rPr lang="en-US" dirty="0">
                <a:latin typeface="Inter"/>
              </a:rPr>
              <a:t>YOLO-World introduced a new paradigm of object detection: “prompt then detect”. This eliminates the need for just-in-time text encoding, a property of other zero-shot models that reduces the potential speed of the model. According to the YOLO World paper, the small version of the model achieves up to 74.1 FPS on a V100 GPU.</a:t>
            </a:r>
          </a:p>
        </p:txBody>
      </p:sp>
    </p:spTree>
    <p:extLst>
      <p:ext uri="{BB962C8B-B14F-4D97-AF65-F5344CB8AC3E}">
        <p14:creationId xmlns:p14="http://schemas.microsoft.com/office/powerpoint/2010/main" val="1977452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216F693-7C4E-453E-935B-B0815F2C6516}"/>
              </a:ext>
            </a:extLst>
          </p:cNvPr>
          <p:cNvSpPr/>
          <p:nvPr/>
        </p:nvSpPr>
        <p:spPr>
          <a:xfrm>
            <a:off x="232227" y="3879523"/>
            <a:ext cx="12104916" cy="646331"/>
          </a:xfrm>
          <a:prstGeom prst="rect">
            <a:avLst/>
          </a:prstGeom>
        </p:spPr>
        <p:txBody>
          <a:bodyPr wrap="square">
            <a:spAutoFit/>
          </a:bodyPr>
          <a:lstStyle/>
          <a:p>
            <a:pPr algn="ctr"/>
            <a:r>
              <a:rPr lang="en-IN" sz="3600" dirty="0"/>
              <a:t>https://blog.roboflow.com/guide-to-yolo-models/</a:t>
            </a:r>
          </a:p>
        </p:txBody>
      </p:sp>
      <p:sp>
        <p:nvSpPr>
          <p:cNvPr id="7" name="Rectangle 6">
            <a:extLst>
              <a:ext uri="{FF2B5EF4-FFF2-40B4-BE49-F238E27FC236}">
                <a16:creationId xmlns:a16="http://schemas.microsoft.com/office/drawing/2014/main" id="{99D2C915-E833-4D61-B7CB-28D2B381B62C}"/>
              </a:ext>
            </a:extLst>
          </p:cNvPr>
          <p:cNvSpPr/>
          <p:nvPr/>
        </p:nvSpPr>
        <p:spPr>
          <a:xfrm>
            <a:off x="232227" y="278059"/>
            <a:ext cx="12104916" cy="1754326"/>
          </a:xfrm>
          <a:prstGeom prst="rect">
            <a:avLst/>
          </a:prstGeom>
        </p:spPr>
        <p:txBody>
          <a:bodyPr wrap="square">
            <a:spAutoFit/>
          </a:bodyPr>
          <a:lstStyle/>
          <a:p>
            <a:r>
              <a:rPr lang="en-US" dirty="0">
                <a:latin typeface="Inter"/>
              </a:rPr>
              <a:t>YOLO-NAS, created by Deci AI, beat its predecessors — particularly YOLOv6 and YOLOv8 — by achieving a higher </a:t>
            </a:r>
            <a:r>
              <a:rPr lang="en-US" dirty="0" err="1">
                <a:latin typeface="Inter"/>
              </a:rPr>
              <a:t>mAP</a:t>
            </a:r>
            <a:r>
              <a:rPr lang="en-US" dirty="0">
                <a:latin typeface="Inter"/>
              </a:rPr>
              <a:t> value on the COCO dataset while keeping lower latency. YOLO-NAS is also the best on the </a:t>
            </a:r>
            <a:r>
              <a:rPr lang="en-US" u="sng" dirty="0" err="1">
                <a:latin typeface="Inter"/>
                <a:hlinkClick r:id="rId2">
                  <a:extLst>
                    <a:ext uri="{A12FA001-AC4F-418D-AE19-62706E023703}">
                      <ahyp:hlinkClr xmlns:ahyp="http://schemas.microsoft.com/office/drawing/2018/hyperlinkcolor" val="tx"/>
                    </a:ext>
                  </a:extLst>
                </a:hlinkClick>
              </a:rPr>
              <a:t>Roboflow</a:t>
            </a:r>
            <a:r>
              <a:rPr lang="en-US" u="sng" dirty="0">
                <a:latin typeface="Inter"/>
                <a:hlinkClick r:id="rId2">
                  <a:extLst>
                    <a:ext uri="{A12FA001-AC4F-418D-AE19-62706E023703}">
                      <ahyp:hlinkClr xmlns:ahyp="http://schemas.microsoft.com/office/drawing/2018/hyperlinkcolor" val="tx"/>
                    </a:ext>
                  </a:extLst>
                </a:hlinkClick>
              </a:rPr>
              <a:t> 100</a:t>
            </a:r>
            <a:r>
              <a:rPr lang="en-US" dirty="0">
                <a:latin typeface="Inter"/>
              </a:rPr>
              <a:t> dataset benchmark, indicating the ease of its fine-tuning on a custom dataset. Deci's proprietary Neural Architecture Search technology generated the YOLO-NAS model. The engine lets you input any task, data characteristics (access to data is not required), inference environment and performance targets, and then guides you to find the optimal architecture that delivers the best balance between accuracy and inference speed for your specific application.</a:t>
            </a:r>
            <a:endParaRPr lang="en-IN" dirty="0"/>
          </a:p>
        </p:txBody>
      </p:sp>
      <p:sp>
        <p:nvSpPr>
          <p:cNvPr id="3" name="TextBox 2">
            <a:extLst>
              <a:ext uri="{FF2B5EF4-FFF2-40B4-BE49-F238E27FC236}">
                <a16:creationId xmlns:a16="http://schemas.microsoft.com/office/drawing/2014/main" id="{362EC82B-BBAC-479F-9796-D9E09A264108}"/>
              </a:ext>
            </a:extLst>
          </p:cNvPr>
          <p:cNvSpPr txBox="1"/>
          <p:nvPr/>
        </p:nvSpPr>
        <p:spPr>
          <a:xfrm>
            <a:off x="0" y="3154017"/>
            <a:ext cx="12192000" cy="646331"/>
          </a:xfrm>
          <a:prstGeom prst="rect">
            <a:avLst/>
          </a:prstGeom>
          <a:noFill/>
        </p:spPr>
        <p:txBody>
          <a:bodyPr wrap="square" rtlCol="0">
            <a:spAutoFit/>
          </a:bodyPr>
          <a:lstStyle/>
          <a:p>
            <a:pPr algn="ctr"/>
            <a:r>
              <a:rPr lang="en-US" sz="3600" dirty="0"/>
              <a:t>REFERENCES</a:t>
            </a:r>
            <a:endParaRPr lang="en-IN" sz="3600" dirty="0"/>
          </a:p>
        </p:txBody>
      </p:sp>
    </p:spTree>
    <p:extLst>
      <p:ext uri="{BB962C8B-B14F-4D97-AF65-F5344CB8AC3E}">
        <p14:creationId xmlns:p14="http://schemas.microsoft.com/office/powerpoint/2010/main" val="9928588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875</Words>
  <Application>Microsoft Office PowerPoint</Application>
  <PresentationFormat>Widescreen</PresentationFormat>
  <Paragraphs>53</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11</cp:revision>
  <dcterms:created xsi:type="dcterms:W3CDTF">2024-09-30T17:33:03Z</dcterms:created>
  <dcterms:modified xsi:type="dcterms:W3CDTF">2024-10-06T16:31:00Z</dcterms:modified>
</cp:coreProperties>
</file>
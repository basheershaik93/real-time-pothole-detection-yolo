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2"/>
    <p:sldId id="256" r:id="rId3"/>
    <p:sldId id="263" r:id="rId4"/>
    <p:sldId id="257" r:id="rId5"/>
    <p:sldId id="264" r:id="rId6"/>
    <p:sldId id="258" r:id="rId7"/>
    <p:sldId id="265" r:id="rId8"/>
    <p:sldId id="259" r:id="rId9"/>
    <p:sldId id="266" r:id="rId10"/>
    <p:sldId id="260" r:id="rId11"/>
    <p:sldId id="267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sarrolloydefensa.blogspot.com/2019/03/como-los-enjambres-de-drones-cambiaran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LyfeceC8WXw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2WaYLNG5zX0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3i4BBJjzw4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X1aiZGNpCE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2tQglYgbANE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JuWr8DBqF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76BB92C-92EE-456C-AEC9-1E6EA35F5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1" y="2310"/>
            <a:ext cx="12196107" cy="6855690"/>
          </a:xfrm>
          <a:prstGeom prst="rect">
            <a:avLst/>
          </a:prstGeom>
          <a:solidFill>
            <a:schemeClr val="accent1"/>
          </a:solidFill>
          <a:effectLst>
            <a:glow rad="127000">
              <a:schemeClr val="accent1">
                <a:alpha val="0"/>
              </a:schemeClr>
            </a:glow>
            <a:outerShdw dist="50800" dir="5400000" algn="ctr" rotWithShape="0">
              <a:srgbClr val="000000">
                <a:alpha val="0"/>
              </a:srgbClr>
            </a:outerShdw>
            <a:reflection stA="28000" endPos="0" dist="50800" dir="5400000" sy="-100000" algn="bl" rotWithShape="0"/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210BEFB-E1A6-43E2-8BAB-1C874EAC0A92}"/>
              </a:ext>
            </a:extLst>
          </p:cNvPr>
          <p:cNvSpPr/>
          <p:nvPr/>
        </p:nvSpPr>
        <p:spPr>
          <a:xfrm>
            <a:off x="315031" y="2768210"/>
            <a:ext cx="1187696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highlight>
                  <a:srgbClr val="FFFF00"/>
                </a:highlight>
              </a:rPr>
              <a:t>PAST APPLICATIONS OF DRONES</a:t>
            </a:r>
            <a:endParaRPr lang="en-IN" sz="6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80451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7B3B-69A8-4AEB-9AA3-E5B4209C8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9707" y="132524"/>
            <a:ext cx="8676222" cy="954156"/>
          </a:xfrm>
        </p:spPr>
        <p:txBody>
          <a:bodyPr/>
          <a:lstStyle/>
          <a:p>
            <a:r>
              <a:rPr lang="en-IN" dirty="0">
                <a:effectLst/>
              </a:rPr>
              <a:t>GRIFF Aviation 300</a:t>
            </a:r>
            <a:endParaRPr lang="en-IN" dirty="0"/>
          </a:p>
        </p:txBody>
      </p:sp>
      <p:pic>
        <p:nvPicPr>
          <p:cNvPr id="1026" name="Picture 2" descr="The Griff 300 Drone Can Lift 500 Pounds">
            <a:extLst>
              <a:ext uri="{FF2B5EF4-FFF2-40B4-BE49-F238E27FC236}">
                <a16:creationId xmlns:a16="http://schemas.microsoft.com/office/drawing/2014/main" id="{7D15C4CC-D0EA-4AC6-8C1C-A8CCDB50A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080" y="1285461"/>
            <a:ext cx="5485848" cy="428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3D33EF2-9506-4BA5-BE34-8705D498370C}"/>
              </a:ext>
            </a:extLst>
          </p:cNvPr>
          <p:cNvSpPr/>
          <p:nvPr/>
        </p:nvSpPr>
        <p:spPr>
          <a:xfrm>
            <a:off x="264816" y="1181972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Payload Capacity</a:t>
            </a:r>
            <a:r>
              <a:rPr lang="en-US" altLang="en-US" dirty="0">
                <a:latin typeface="Arial" panose="020B0604020202020204" pitchFamily="34" charset="0"/>
              </a:rPr>
              <a:t>: Up to 300 kg (660 </a:t>
            </a:r>
            <a:r>
              <a:rPr lang="en-US" altLang="en-US" dirty="0" err="1">
                <a:latin typeface="Arial" panose="020B0604020202020204" pitchFamily="34" charset="0"/>
              </a:rPr>
              <a:t>lbs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Flight Time</a:t>
            </a:r>
            <a:r>
              <a:rPr lang="en-US" altLang="en-US" dirty="0">
                <a:latin typeface="Arial" panose="020B0604020202020204" pitchFamily="34" charset="0"/>
              </a:rPr>
              <a:t>: Approximately 30-60 minutes, depending on payload and conditions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Range</a:t>
            </a:r>
            <a:r>
              <a:rPr lang="en-US" altLang="en-US" dirty="0">
                <a:latin typeface="Arial" panose="020B0604020202020204" pitchFamily="34" charset="0"/>
              </a:rPr>
              <a:t>: Up to 100 km (62 miles) depending on configuration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Max Speed</a:t>
            </a:r>
            <a:r>
              <a:rPr lang="en-US" altLang="en-US" dirty="0">
                <a:latin typeface="Arial" panose="020B0604020202020204" pitchFamily="34" charset="0"/>
              </a:rPr>
              <a:t>: Around 70 km/h (43 mph)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Dimensions</a:t>
            </a:r>
            <a:r>
              <a:rPr lang="en-US" altLang="en-US" dirty="0">
                <a:latin typeface="Arial" panose="020B0604020202020204" pitchFamily="34" charset="0"/>
              </a:rPr>
              <a:t>: Varies based on configuration, typically around 2.5 m (8.2 ft) in diameter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Power Source</a:t>
            </a:r>
            <a:r>
              <a:rPr lang="en-US" altLang="en-US" dirty="0">
                <a:latin typeface="Arial" panose="020B0604020202020204" pitchFamily="34" charset="0"/>
              </a:rPr>
              <a:t>: Hybrid or electric options available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Control System</a:t>
            </a:r>
            <a:r>
              <a:rPr lang="en-US" altLang="en-US" dirty="0">
                <a:latin typeface="Arial" panose="020B0604020202020204" pitchFamily="34" charset="0"/>
              </a:rPr>
              <a:t>: Autonomous and manual flight modes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Camera Options</a:t>
            </a:r>
            <a:r>
              <a:rPr lang="en-US" altLang="en-US" dirty="0">
                <a:latin typeface="Arial" panose="020B0604020202020204" pitchFamily="34" charset="0"/>
              </a:rPr>
              <a:t>: Can be equipped with various payloads including cameras and sensors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Applications</a:t>
            </a:r>
            <a:r>
              <a:rPr lang="en-US" altLang="en-US" dirty="0">
                <a:latin typeface="Arial" panose="020B0604020202020204" pitchFamily="34" charset="0"/>
              </a:rPr>
              <a:t>: Logistics, emergency response, surveillance, and more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AF878C-97E2-43BC-9BCA-E6FA43369F65}"/>
              </a:ext>
            </a:extLst>
          </p:cNvPr>
          <p:cNvSpPr/>
          <p:nvPr/>
        </p:nvSpPr>
        <p:spPr>
          <a:xfrm>
            <a:off x="196072" y="5110873"/>
            <a:ext cx="6096001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Type</a:t>
            </a:r>
            <a:r>
              <a:rPr lang="en-US" altLang="en-US" dirty="0">
                <a:latin typeface="Arial" panose="020B0604020202020204" pitchFamily="34" charset="0"/>
              </a:rPr>
              <a:t>: Brushless DC motors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Number of Motors</a:t>
            </a:r>
            <a:r>
              <a:rPr lang="en-US" altLang="en-US" dirty="0">
                <a:latin typeface="Arial" panose="020B0604020202020204" pitchFamily="34" charset="0"/>
              </a:rPr>
              <a:t>: Usually configured with multiple motors (often eight) for enhanced stability and redundancy </a:t>
            </a:r>
          </a:p>
        </p:txBody>
      </p:sp>
    </p:spTree>
    <p:extLst>
      <p:ext uri="{BB962C8B-B14F-4D97-AF65-F5344CB8AC3E}">
        <p14:creationId xmlns:p14="http://schemas.microsoft.com/office/powerpoint/2010/main" val="583084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Griff Aviation&amp;#39;s Giant Heavy Lift Drone">
            <a:hlinkClick r:id="" action="ppaction://media"/>
            <a:extLst>
              <a:ext uri="{FF2B5EF4-FFF2-40B4-BE49-F238E27FC236}">
                <a16:creationId xmlns:a16="http://schemas.microsoft.com/office/drawing/2014/main" id="{08CB9339-DD47-4169-A289-23682608E28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369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96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7BC5-332A-4922-A322-E17DADC02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86678"/>
          </a:xfrm>
        </p:spPr>
        <p:txBody>
          <a:bodyPr>
            <a:normAutofit/>
          </a:bodyPr>
          <a:lstStyle/>
          <a:p>
            <a:pPr algn="ctr"/>
            <a:r>
              <a:rPr lang="en-IN" sz="4400" dirty="0" err="1">
                <a:effectLst/>
              </a:rPr>
              <a:t>Ehang</a:t>
            </a:r>
            <a:r>
              <a:rPr lang="en-IN" sz="4400" dirty="0">
                <a:effectLst/>
              </a:rPr>
              <a:t> EH216-S</a:t>
            </a:r>
            <a:endParaRPr lang="en-IN" sz="4400" dirty="0"/>
          </a:p>
        </p:txBody>
      </p:sp>
      <p:pic>
        <p:nvPicPr>
          <p:cNvPr id="2054" name="Picture 6" descr="China greenlights EHang to mass produce world's first certified eVTOL - CGTN">
            <a:extLst>
              <a:ext uri="{FF2B5EF4-FFF2-40B4-BE49-F238E27FC236}">
                <a16:creationId xmlns:a16="http://schemas.microsoft.com/office/drawing/2014/main" id="{943694CF-2CD5-4FFD-B66E-B0AED5C76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2" y="1696278"/>
            <a:ext cx="6096001" cy="4773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8E3AE0-4CDB-4D65-A71C-65864B562F67}"/>
              </a:ext>
            </a:extLst>
          </p:cNvPr>
          <p:cNvSpPr/>
          <p:nvPr/>
        </p:nvSpPr>
        <p:spPr>
          <a:xfrm>
            <a:off x="21903" y="1367420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Capacity</a:t>
            </a:r>
            <a:r>
              <a:rPr lang="en-US" altLang="en-US" dirty="0">
                <a:latin typeface="Arial" panose="020B0604020202020204" pitchFamily="34" charset="0"/>
              </a:rPr>
              <a:t>: Designed for 2 passengers (or equivalent cargo)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Payload Capacity</a:t>
            </a:r>
            <a:r>
              <a:rPr lang="en-US" altLang="en-US" dirty="0">
                <a:latin typeface="Arial" panose="020B0604020202020204" pitchFamily="34" charset="0"/>
              </a:rPr>
              <a:t>: Up to 220 kg (485 </a:t>
            </a:r>
            <a:r>
              <a:rPr lang="en-US" altLang="en-US" dirty="0" err="1">
                <a:latin typeface="Arial" panose="020B0604020202020204" pitchFamily="34" charset="0"/>
              </a:rPr>
              <a:t>lbs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Flight Time</a:t>
            </a:r>
            <a:r>
              <a:rPr lang="en-US" altLang="en-US" dirty="0">
                <a:latin typeface="Arial" panose="020B0604020202020204" pitchFamily="34" charset="0"/>
              </a:rPr>
              <a:t>: Approximately 30 minutes, depending on conditions and payload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Cruising Speed</a:t>
            </a:r>
            <a:r>
              <a:rPr lang="en-US" altLang="en-US" dirty="0">
                <a:latin typeface="Arial" panose="020B0604020202020204" pitchFamily="34" charset="0"/>
              </a:rPr>
              <a:t>: Around 100 km/h (62 mph)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Range</a:t>
            </a:r>
            <a:r>
              <a:rPr lang="en-US" altLang="en-US" dirty="0">
                <a:latin typeface="Arial" panose="020B0604020202020204" pitchFamily="34" charset="0"/>
              </a:rPr>
              <a:t>: Up to 35 km (22 miles) on a single charge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Dimensions</a:t>
            </a:r>
            <a:r>
              <a:rPr lang="en-US" altLang="en-US" dirty="0">
                <a:latin typeface="Arial" panose="020B0604020202020204" pitchFamily="34" charset="0"/>
              </a:rPr>
              <a:t>: Approximately 4.2 m (13.8 ft) in length and 4.0 m (13.1 ft) in wingspan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Motors</a:t>
            </a:r>
            <a:r>
              <a:rPr lang="en-US" altLang="en-US" dirty="0">
                <a:latin typeface="Arial" panose="020B0604020202020204" pitchFamily="34" charset="0"/>
              </a:rPr>
              <a:t>: 16 electric motors for redundancy and stability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Battery</a:t>
            </a:r>
            <a:r>
              <a:rPr lang="en-US" altLang="en-US" dirty="0">
                <a:latin typeface="Arial" panose="020B0604020202020204" pitchFamily="34" charset="0"/>
              </a:rPr>
              <a:t>: Lithium-ion batteries with rapid recharging capabilities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Autonomy</a:t>
            </a:r>
            <a:r>
              <a:rPr lang="en-US" altLang="en-US" dirty="0">
                <a:latin typeface="Arial" panose="020B0604020202020204" pitchFamily="34" charset="0"/>
              </a:rPr>
              <a:t>: Fully autonomous flight capabilities with advanced navigation and safety systems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Control System</a:t>
            </a:r>
            <a:r>
              <a:rPr lang="en-US" altLang="en-US" dirty="0">
                <a:latin typeface="Arial" panose="020B0604020202020204" pitchFamily="34" charset="0"/>
              </a:rPr>
              <a:t>: Remote monitoring and management via a ground control system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41E41DD-45D3-4BDB-823B-C4C7DE1F5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1499"/>
            <a:ext cx="60740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Motors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16 motors, providing redundancy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safety and stability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Brushless electric motors</a:t>
            </a:r>
          </a:p>
        </p:txBody>
      </p:sp>
    </p:spTree>
    <p:extLst>
      <p:ext uri="{BB962C8B-B14F-4D97-AF65-F5344CB8AC3E}">
        <p14:creationId xmlns:p14="http://schemas.microsoft.com/office/powerpoint/2010/main" val="509155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EHang 216 AAV Conducted Trial Flights in Japan">
            <a:hlinkClick r:id="" action="ppaction://media"/>
            <a:extLst>
              <a:ext uri="{FF2B5EF4-FFF2-40B4-BE49-F238E27FC236}">
                <a16:creationId xmlns:a16="http://schemas.microsoft.com/office/drawing/2014/main" id="{FEA8AD32-5E01-45D7-9B75-EFDBE28D216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53280"/>
            <a:ext cx="12192000" cy="680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847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2589-52B6-4773-823D-36C980C66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75735"/>
            <a:ext cx="9905998" cy="795130"/>
          </a:xfrm>
        </p:spPr>
        <p:txBody>
          <a:bodyPr>
            <a:normAutofit/>
          </a:bodyPr>
          <a:lstStyle/>
          <a:p>
            <a:pPr algn="ctr"/>
            <a:r>
              <a:rPr lang="en-IN" sz="4400" dirty="0" err="1">
                <a:effectLst/>
              </a:rPr>
              <a:t>Ehang</a:t>
            </a:r>
            <a:r>
              <a:rPr lang="en-IN" sz="4400" dirty="0">
                <a:effectLst/>
              </a:rPr>
              <a:t> 184</a:t>
            </a:r>
            <a:endParaRPr lang="en-IN" sz="4400" dirty="0"/>
          </a:p>
        </p:txBody>
      </p:sp>
      <p:pic>
        <p:nvPicPr>
          <p:cNvPr id="3074" name="Picture 2" descr="Ehang 184 Autonomous Aerial Vehicle (AAV), EHang">
            <a:extLst>
              <a:ext uri="{FF2B5EF4-FFF2-40B4-BE49-F238E27FC236}">
                <a16:creationId xmlns:a16="http://schemas.microsoft.com/office/drawing/2014/main" id="{0456C5CC-7FAD-4B84-89CB-337AAA105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634" y="1485900"/>
            <a:ext cx="5274365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173BDE-7046-47A2-AC1D-F27579DDFF51}"/>
              </a:ext>
            </a:extLst>
          </p:cNvPr>
          <p:cNvSpPr/>
          <p:nvPr/>
        </p:nvSpPr>
        <p:spPr>
          <a:xfrm>
            <a:off x="132408" y="970865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Capacity</a:t>
            </a:r>
            <a:r>
              <a:rPr lang="en-US" altLang="en-US" dirty="0">
                <a:latin typeface="Arial" panose="020B0604020202020204" pitchFamily="34" charset="0"/>
              </a:rPr>
              <a:t>: 1 passenger (or equivalent cargo)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Payload Capacity</a:t>
            </a:r>
            <a:r>
              <a:rPr lang="en-US" altLang="en-US" dirty="0">
                <a:latin typeface="Arial" panose="020B0604020202020204" pitchFamily="34" charset="0"/>
              </a:rPr>
              <a:t>: Up to 100 kg (220 </a:t>
            </a:r>
            <a:r>
              <a:rPr lang="en-US" altLang="en-US" dirty="0" err="1">
                <a:latin typeface="Arial" panose="020B0604020202020204" pitchFamily="34" charset="0"/>
              </a:rPr>
              <a:t>lbs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Flight Time</a:t>
            </a:r>
            <a:r>
              <a:rPr lang="en-US" altLang="en-US" dirty="0">
                <a:latin typeface="Arial" panose="020B0604020202020204" pitchFamily="34" charset="0"/>
              </a:rPr>
              <a:t>: Approximately 20-25 minutes, depending on conditions and payload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Cruising Speed</a:t>
            </a:r>
            <a:r>
              <a:rPr lang="en-US" altLang="en-US" dirty="0">
                <a:latin typeface="Arial" panose="020B0604020202020204" pitchFamily="34" charset="0"/>
              </a:rPr>
              <a:t>: Around 60 km/h (37 mph)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Range</a:t>
            </a:r>
            <a:r>
              <a:rPr lang="en-US" altLang="en-US" dirty="0">
                <a:latin typeface="Arial" panose="020B0604020202020204" pitchFamily="34" charset="0"/>
              </a:rPr>
              <a:t>: Up to 16 km (10 miles) on a single charge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Dimensions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Length: Approximately 4.0 m (13.1 ft)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Height: About 1.5 m (4.9 ft)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Wingspan: Approximately 4.0 m (13.1 ft)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Motors</a:t>
            </a:r>
            <a:r>
              <a:rPr lang="en-US" altLang="en-US" dirty="0">
                <a:latin typeface="Arial" panose="020B0604020202020204" pitchFamily="34" charset="0"/>
              </a:rPr>
              <a:t>: 4 electric motors for propulsion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Battery</a:t>
            </a:r>
            <a:r>
              <a:rPr lang="en-US" altLang="en-US" dirty="0">
                <a:latin typeface="Arial" panose="020B0604020202020204" pitchFamily="34" charset="0"/>
              </a:rPr>
              <a:t>: Lithium-ion battery pack with rapid charging capabilities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Autonomy</a:t>
            </a:r>
            <a:r>
              <a:rPr lang="en-US" altLang="en-US" dirty="0">
                <a:latin typeface="Arial" panose="020B0604020202020204" pitchFamily="34" charset="0"/>
              </a:rPr>
              <a:t>: Fully autonomous flight capabilities with GPS navigation and obstacle avoidance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Control System</a:t>
            </a:r>
            <a:r>
              <a:rPr lang="en-US" altLang="en-US" dirty="0">
                <a:latin typeface="Arial" panose="020B0604020202020204" pitchFamily="34" charset="0"/>
              </a:rPr>
              <a:t>: Ground control station for monitoring and managing flights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B3CD0B-BFFC-461D-81AE-56D9DE0D72C9}"/>
              </a:ext>
            </a:extLst>
          </p:cNvPr>
          <p:cNvSpPr/>
          <p:nvPr/>
        </p:nvSpPr>
        <p:spPr>
          <a:xfrm>
            <a:off x="132408" y="5748844"/>
            <a:ext cx="6096001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Type</a:t>
            </a:r>
            <a:r>
              <a:rPr lang="en-US" altLang="en-US" dirty="0">
                <a:latin typeface="Arial" panose="020B0604020202020204" pitchFamily="34" charset="0"/>
              </a:rPr>
              <a:t>: Brushless DC motors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Number of Motors</a:t>
            </a:r>
            <a:r>
              <a:rPr lang="en-US" altLang="en-US" dirty="0">
                <a:latin typeface="Arial" panose="020B0604020202020204" pitchFamily="34" charset="0"/>
              </a:rPr>
              <a:t>: 4 </a:t>
            </a:r>
          </a:p>
        </p:txBody>
      </p:sp>
    </p:spTree>
    <p:extLst>
      <p:ext uri="{BB962C8B-B14F-4D97-AF65-F5344CB8AC3E}">
        <p14:creationId xmlns:p14="http://schemas.microsoft.com/office/powerpoint/2010/main" val="2938402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EHANG 184 - The World&amp;#39;s First Passenger Taxi Drone">
            <a:hlinkClick r:id="" action="ppaction://media"/>
            <a:extLst>
              <a:ext uri="{FF2B5EF4-FFF2-40B4-BE49-F238E27FC236}">
                <a16:creationId xmlns:a16="http://schemas.microsoft.com/office/drawing/2014/main" id="{FF17D1C2-5984-4211-B6DB-1B6713E7912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26504"/>
            <a:ext cx="12192000" cy="699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82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8D46-412D-4AD7-ACA1-DA575E926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5704" y="251793"/>
            <a:ext cx="9194782" cy="675860"/>
          </a:xfrm>
        </p:spPr>
        <p:txBody>
          <a:bodyPr>
            <a:normAutofit fontScale="90000"/>
          </a:bodyPr>
          <a:lstStyle/>
          <a:p>
            <a:r>
              <a:rPr lang="pt-BR" dirty="0"/>
              <a:t>Harris Aerial Carrier H6 HL</a:t>
            </a:r>
            <a:endParaRPr lang="en-IN" dirty="0"/>
          </a:p>
        </p:txBody>
      </p:sp>
      <p:pic>
        <p:nvPicPr>
          <p:cNvPr id="4098" name="Picture 2" descr="Harris Aerial Carrier H6HL – Ripping It Outdoors">
            <a:extLst>
              <a:ext uri="{FF2B5EF4-FFF2-40B4-BE49-F238E27FC236}">
                <a16:creationId xmlns:a16="http://schemas.microsoft.com/office/drawing/2014/main" id="{8B880093-3A21-44A8-9A97-1414E201E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656522"/>
            <a:ext cx="5486400" cy="4460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C202D1C-A81A-410B-9C98-45AE17D44631}"/>
              </a:ext>
            </a:extLst>
          </p:cNvPr>
          <p:cNvSpPr/>
          <p:nvPr/>
        </p:nvSpPr>
        <p:spPr>
          <a:xfrm>
            <a:off x="132408" y="1102046"/>
            <a:ext cx="6096001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Payload Capacity</a:t>
            </a:r>
            <a:r>
              <a:rPr lang="en-US" altLang="en-US" dirty="0">
                <a:latin typeface="Arial" panose="020B0604020202020204" pitchFamily="34" charset="0"/>
              </a:rPr>
              <a:t>: Up to 50 kg (110 </a:t>
            </a:r>
            <a:r>
              <a:rPr lang="en-US" altLang="en-US" dirty="0" err="1">
                <a:latin typeface="Arial" panose="020B0604020202020204" pitchFamily="34" charset="0"/>
              </a:rPr>
              <a:t>lbs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Flight Time</a:t>
            </a:r>
            <a:r>
              <a:rPr lang="en-US" altLang="en-US" dirty="0">
                <a:latin typeface="Arial" panose="020B0604020202020204" pitchFamily="34" charset="0"/>
              </a:rPr>
              <a:t>: Approximately 30-40 minutes, depending on the payload and flight conditions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Max Speed</a:t>
            </a:r>
            <a:r>
              <a:rPr lang="en-US" altLang="en-US" dirty="0">
                <a:latin typeface="Arial" panose="020B0604020202020204" pitchFamily="34" charset="0"/>
              </a:rPr>
              <a:t>: Around 80 km/h (50 mph)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Range</a:t>
            </a:r>
            <a:r>
              <a:rPr lang="en-US" altLang="en-US" dirty="0">
                <a:latin typeface="Arial" panose="020B0604020202020204" pitchFamily="34" charset="0"/>
              </a:rPr>
              <a:t>: Up to 30 km (18.6 miles) on a single charge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Dimensions</a:t>
            </a:r>
            <a:r>
              <a:rPr lang="en-US" altLang="en-US" dirty="0">
                <a:latin typeface="Arial" panose="020B0604020202020204" pitchFamily="34" charset="0"/>
              </a:rPr>
              <a:t>: Typically around 1.5 m (4.9 ft) in diameter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Motors</a:t>
            </a:r>
            <a:r>
              <a:rPr lang="en-US" altLang="en-US" dirty="0">
                <a:latin typeface="Arial" panose="020B0604020202020204" pitchFamily="34" charset="0"/>
              </a:rPr>
              <a:t>: Equipped with multiple electric motors for enhanced stability and lift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Battery</a:t>
            </a:r>
            <a:r>
              <a:rPr lang="en-US" altLang="en-US" dirty="0">
                <a:latin typeface="Arial" panose="020B0604020202020204" pitchFamily="34" charset="0"/>
              </a:rPr>
              <a:t>: High-capacity lithium-polymer (LiPo) batteries with rapid charging capabilities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Control System</a:t>
            </a:r>
            <a:r>
              <a:rPr lang="en-US" altLang="en-US" dirty="0">
                <a:latin typeface="Arial" panose="020B0604020202020204" pitchFamily="34" charset="0"/>
              </a:rPr>
              <a:t>: Autonomous and manual flight modes with advanced navigation features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Applications</a:t>
            </a:r>
            <a:r>
              <a:rPr lang="en-US" altLang="en-US" dirty="0">
                <a:latin typeface="Arial" panose="020B0604020202020204" pitchFamily="34" charset="0"/>
              </a:rPr>
              <a:t>: Suitable for logistics, agriculture, surveillance, and emergency response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74920E-BD73-4E2D-9553-B860F19CA840}"/>
              </a:ext>
            </a:extLst>
          </p:cNvPr>
          <p:cNvSpPr/>
          <p:nvPr/>
        </p:nvSpPr>
        <p:spPr>
          <a:xfrm>
            <a:off x="0" y="506641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Type</a:t>
            </a:r>
            <a:r>
              <a:rPr lang="en-US" altLang="en-US" dirty="0">
                <a:latin typeface="Arial" panose="020B0604020202020204" pitchFamily="34" charset="0"/>
              </a:rPr>
              <a:t>: Brushless DC motors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Number of Motors</a:t>
            </a:r>
            <a:r>
              <a:rPr lang="en-US" altLang="en-US" dirty="0">
                <a:latin typeface="Arial" panose="020B0604020202020204" pitchFamily="34" charset="0"/>
              </a:rPr>
              <a:t>: Usually configured with six motors for redundancy and improved stability </a:t>
            </a:r>
          </a:p>
        </p:txBody>
      </p:sp>
    </p:spTree>
    <p:extLst>
      <p:ext uri="{BB962C8B-B14F-4D97-AF65-F5344CB8AC3E}">
        <p14:creationId xmlns:p14="http://schemas.microsoft.com/office/powerpoint/2010/main" val="2372810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CARRIER H6 HYDRONE TEASER">
            <a:hlinkClick r:id="" action="ppaction://media"/>
            <a:extLst>
              <a:ext uri="{FF2B5EF4-FFF2-40B4-BE49-F238E27FC236}">
                <a16:creationId xmlns:a16="http://schemas.microsoft.com/office/drawing/2014/main" id="{7774EBB8-5B93-4A27-9E94-BC6EC9A8DB9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0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66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F6B1-22E3-4339-9434-9754AA050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212036"/>
            <a:ext cx="8676222" cy="755373"/>
          </a:xfrm>
        </p:spPr>
        <p:txBody>
          <a:bodyPr>
            <a:normAutofit fontScale="90000"/>
          </a:bodyPr>
          <a:lstStyle/>
          <a:p>
            <a:r>
              <a:rPr lang="en-US" dirty="0"/>
              <a:t>CW 15</a:t>
            </a:r>
            <a:endParaRPr lang="en-IN" dirty="0"/>
          </a:p>
        </p:txBody>
      </p:sp>
      <p:pic>
        <p:nvPicPr>
          <p:cNvPr id="5122" name="Picture 2" descr="JOUAV - Reliable UAVs Make the Task ...">
            <a:extLst>
              <a:ext uri="{FF2B5EF4-FFF2-40B4-BE49-F238E27FC236}">
                <a16:creationId xmlns:a16="http://schemas.microsoft.com/office/drawing/2014/main" id="{3D28B641-7E60-4534-B931-5A3739599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887" y="1868557"/>
            <a:ext cx="5454303" cy="291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B84BD4A-E6A2-4A8E-9083-77FF4FFA1854}"/>
              </a:ext>
            </a:extLst>
          </p:cNvPr>
          <p:cNvSpPr/>
          <p:nvPr/>
        </p:nvSpPr>
        <p:spPr>
          <a:xfrm>
            <a:off x="0" y="1061874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Payload Capacity</a:t>
            </a:r>
            <a:r>
              <a:rPr lang="en-US" altLang="en-US" dirty="0">
                <a:latin typeface="Arial" panose="020B0604020202020204" pitchFamily="34" charset="0"/>
              </a:rPr>
              <a:t>: Up to 15 kg (33 </a:t>
            </a:r>
            <a:r>
              <a:rPr lang="en-US" altLang="en-US" dirty="0" err="1">
                <a:latin typeface="Arial" panose="020B0604020202020204" pitchFamily="34" charset="0"/>
              </a:rPr>
              <a:t>lbs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Flight Time</a:t>
            </a:r>
            <a:r>
              <a:rPr lang="en-US" altLang="en-US" dirty="0">
                <a:latin typeface="Arial" panose="020B0604020202020204" pitchFamily="34" charset="0"/>
              </a:rPr>
              <a:t>: Approximately 30-40 minutes, depending on the payload and environmental conditions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Max Speed</a:t>
            </a:r>
            <a:r>
              <a:rPr lang="en-US" altLang="en-US" dirty="0">
                <a:latin typeface="Arial" panose="020B0604020202020204" pitchFamily="34" charset="0"/>
              </a:rPr>
              <a:t>: Around 60 km/h (37 mph)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Range</a:t>
            </a:r>
            <a:r>
              <a:rPr lang="en-US" altLang="en-US" dirty="0">
                <a:latin typeface="Arial" panose="020B0604020202020204" pitchFamily="34" charset="0"/>
              </a:rPr>
              <a:t>: Up to 25 km (15.5 miles) on a single charge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Dimensions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Diagonal Size: Approximately 1.5 m (4.9 ft)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Height: About 0.5 m (1.6 ft)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Motors</a:t>
            </a:r>
            <a:r>
              <a:rPr lang="en-US" altLang="en-US" dirty="0">
                <a:latin typeface="Arial" panose="020B0604020202020204" pitchFamily="34" charset="0"/>
              </a:rPr>
              <a:t>: Typically equipped with multiple high-efficiency brushless motors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Battery</a:t>
            </a:r>
            <a:r>
              <a:rPr lang="en-US" altLang="en-US" dirty="0">
                <a:latin typeface="Arial" panose="020B0604020202020204" pitchFamily="34" charset="0"/>
              </a:rPr>
              <a:t>: High-capacity lithium-polymer (LiPo) batteries, with rapid charging options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Control System</a:t>
            </a:r>
            <a:r>
              <a:rPr lang="en-US" altLang="en-US" dirty="0">
                <a:latin typeface="Arial" panose="020B0604020202020204" pitchFamily="34" charset="0"/>
              </a:rPr>
              <a:t>: Autonomous flight capabilities with GPS navigation and obstacle avoidance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7D2AE4-E6C8-4B36-966B-990114CAAC0F}"/>
              </a:ext>
            </a:extLst>
          </p:cNvPr>
          <p:cNvSpPr/>
          <p:nvPr/>
        </p:nvSpPr>
        <p:spPr>
          <a:xfrm>
            <a:off x="0" y="5032192"/>
            <a:ext cx="6096001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Type</a:t>
            </a:r>
            <a:r>
              <a:rPr lang="en-US" altLang="en-US" dirty="0">
                <a:latin typeface="Arial" panose="020B0604020202020204" pitchFamily="34" charset="0"/>
              </a:rPr>
              <a:t>: Brushless DC motors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Number of Motors</a:t>
            </a:r>
            <a:r>
              <a:rPr lang="en-US" altLang="en-US" dirty="0">
                <a:latin typeface="Arial" panose="020B0604020202020204" pitchFamily="34" charset="0"/>
              </a:rPr>
              <a:t>: Usually configured with four or more motors, depending on the model </a:t>
            </a:r>
          </a:p>
        </p:txBody>
      </p:sp>
    </p:spTree>
    <p:extLst>
      <p:ext uri="{BB962C8B-B14F-4D97-AF65-F5344CB8AC3E}">
        <p14:creationId xmlns:p14="http://schemas.microsoft.com/office/powerpoint/2010/main" val="3754698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Media 3" title="CW-15 VTOL UAV Unboxing">
            <a:hlinkClick r:id="" action="ppaction://media"/>
            <a:extLst>
              <a:ext uri="{FF2B5EF4-FFF2-40B4-BE49-F238E27FC236}">
                <a16:creationId xmlns:a16="http://schemas.microsoft.com/office/drawing/2014/main" id="{8DCB001B-5379-451E-A0BC-BF5E1C44F45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1325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68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81600-6937-4A53-95E3-4C20DA82D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045" y="184666"/>
            <a:ext cx="10547004" cy="887896"/>
          </a:xfrm>
        </p:spPr>
        <p:txBody>
          <a:bodyPr/>
          <a:lstStyle/>
          <a:p>
            <a:r>
              <a:rPr lang="en-IN" dirty="0">
                <a:effectLst/>
              </a:rPr>
              <a:t> Flying Basket FB3 heavy-lift multirotor drone </a:t>
            </a:r>
            <a:endParaRPr lang="en-IN" dirty="0"/>
          </a:p>
        </p:txBody>
      </p:sp>
      <p:pic>
        <p:nvPicPr>
          <p:cNvPr id="6146" name="Picture 2" descr="FB3 Heavy-Lift Multirotor Drone | All ...">
            <a:extLst>
              <a:ext uri="{FF2B5EF4-FFF2-40B4-BE49-F238E27FC236}">
                <a16:creationId xmlns:a16="http://schemas.microsoft.com/office/drawing/2014/main" id="{A55A6817-55F6-4248-AD24-E8FCB2BA4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069" y="1924878"/>
            <a:ext cx="5300869" cy="300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55F7A6-549C-4D91-AEFB-0056A4FF644B}"/>
              </a:ext>
            </a:extLst>
          </p:cNvPr>
          <p:cNvSpPr/>
          <p:nvPr/>
        </p:nvSpPr>
        <p:spPr>
          <a:xfrm>
            <a:off x="132408" y="1041023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Payload Capacity</a:t>
            </a:r>
            <a:r>
              <a:rPr lang="en-US" altLang="en-US" dirty="0">
                <a:latin typeface="Arial" panose="020B0604020202020204" pitchFamily="34" charset="0"/>
              </a:rPr>
              <a:t>: Up to 120 kg (265 </a:t>
            </a:r>
            <a:r>
              <a:rPr lang="en-US" altLang="en-US" dirty="0" err="1">
                <a:latin typeface="Arial" panose="020B0604020202020204" pitchFamily="34" charset="0"/>
              </a:rPr>
              <a:t>lbs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Flight Time</a:t>
            </a:r>
            <a:r>
              <a:rPr lang="en-US" altLang="en-US" dirty="0">
                <a:latin typeface="Arial" panose="020B0604020202020204" pitchFamily="34" charset="0"/>
              </a:rPr>
              <a:t>: Approximately 25-40 minutes, depending on payload and flight conditions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Max Speed</a:t>
            </a:r>
            <a:r>
              <a:rPr lang="en-US" altLang="en-US" dirty="0">
                <a:latin typeface="Arial" panose="020B0604020202020204" pitchFamily="34" charset="0"/>
              </a:rPr>
              <a:t>: Around 70 km/h (43 mph)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Range</a:t>
            </a:r>
            <a:r>
              <a:rPr lang="en-US" altLang="en-US" dirty="0">
                <a:latin typeface="Arial" panose="020B0604020202020204" pitchFamily="34" charset="0"/>
              </a:rPr>
              <a:t>: Typically up to 30 km (18.6 miles) on a single charge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Dimensions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Diameter: Approximately 2.8 m (9.2 ft)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Motors</a:t>
            </a:r>
            <a:r>
              <a:rPr lang="en-US" altLang="en-US" dirty="0">
                <a:latin typeface="Arial" panose="020B0604020202020204" pitchFamily="34" charset="0"/>
              </a:rPr>
              <a:t>: Equipped with multiple high-efficiency brushless motors (usually eight)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Battery</a:t>
            </a:r>
            <a:r>
              <a:rPr lang="en-US" altLang="en-US" dirty="0">
                <a:latin typeface="Arial" panose="020B0604020202020204" pitchFamily="34" charset="0"/>
              </a:rPr>
              <a:t>: High-capacity lithium-polymer (LiPo) batteries with quick-recharge capabilities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Control System</a:t>
            </a:r>
            <a:r>
              <a:rPr lang="en-US" altLang="en-US" dirty="0">
                <a:latin typeface="Arial" panose="020B0604020202020204" pitchFamily="34" charset="0"/>
              </a:rPr>
              <a:t>: Fully autonomous flight with GPS navigation, obstacle avoidance, and ground control station support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Applications</a:t>
            </a:r>
            <a:r>
              <a:rPr lang="en-US" altLang="en-US" dirty="0">
                <a:latin typeface="Arial" panose="020B0604020202020204" pitchFamily="34" charset="0"/>
              </a:rPr>
              <a:t>: Ideal for logistics, agriculture, construction, and emergency response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Type</a:t>
            </a:r>
            <a:r>
              <a:rPr lang="en-US" altLang="en-US" dirty="0">
                <a:latin typeface="Arial" panose="020B0604020202020204" pitchFamily="34" charset="0"/>
              </a:rPr>
              <a:t>: Brushless DC motors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Number of Motors</a:t>
            </a:r>
            <a:r>
              <a:rPr lang="en-US" altLang="en-US" dirty="0">
                <a:latin typeface="Arial" panose="020B0604020202020204" pitchFamily="34" charset="0"/>
              </a:rPr>
              <a:t>: Typically configured with eight motors to provide stability and redundancy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722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Drone delivering a beer barrel to a mountain shelter in Dolomites.">
            <a:hlinkClick r:id="" action="ppaction://media"/>
            <a:extLst>
              <a:ext uri="{FF2B5EF4-FFF2-40B4-BE49-F238E27FC236}">
                <a16:creationId xmlns:a16="http://schemas.microsoft.com/office/drawing/2014/main" id="{0912699D-5F0B-4F1A-B990-7B4E1913FD5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3444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90</TotalTime>
  <Words>824</Words>
  <Application>Microsoft Office PowerPoint</Application>
  <PresentationFormat>Widescreen</PresentationFormat>
  <Paragraphs>81</Paragraphs>
  <Slides>13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Mesh</vt:lpstr>
      <vt:lpstr>PowerPoint Presentation</vt:lpstr>
      <vt:lpstr>GRIFF Aviation 300</vt:lpstr>
      <vt:lpstr>PowerPoint Presentation</vt:lpstr>
      <vt:lpstr>Ehang EH216-S</vt:lpstr>
      <vt:lpstr>PowerPoint Presentation</vt:lpstr>
      <vt:lpstr>Ehang 184</vt:lpstr>
      <vt:lpstr>PowerPoint Presentation</vt:lpstr>
      <vt:lpstr>Harris Aerial Carrier H6 HL</vt:lpstr>
      <vt:lpstr>PowerPoint Presentation</vt:lpstr>
      <vt:lpstr>CW 15</vt:lpstr>
      <vt:lpstr>PowerPoint Presentation</vt:lpstr>
      <vt:lpstr> Flying Basket FB3 heavy-lift multirotor drone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GRIFF Aviation 300</dc:title>
  <dc:creator>HP</dc:creator>
  <cp:lastModifiedBy>HP</cp:lastModifiedBy>
  <cp:revision>13</cp:revision>
  <dcterms:created xsi:type="dcterms:W3CDTF">2024-09-28T09:17:40Z</dcterms:created>
  <dcterms:modified xsi:type="dcterms:W3CDTF">2024-09-30T06:47:27Z</dcterms:modified>
</cp:coreProperties>
</file>